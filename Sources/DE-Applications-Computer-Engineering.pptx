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2" r:id="rId2"/>
    <p:sldId id="312" r:id="rId3"/>
    <p:sldId id="311" r:id="rId4"/>
    <p:sldId id="494" r:id="rId5"/>
    <p:sldId id="495" r:id="rId6"/>
    <p:sldId id="489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293" r:id="rId17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Malgun Gothic" panose="020B0503020000020004" pitchFamily="34" charset="-127"/>
      <p:regular r:id="rId21"/>
      <p:bold r:id="rId22"/>
    </p:embeddedFont>
    <p:embeddedFont>
      <p:font typeface="Poppins Light" panose="00000400000000000000" pitchFamily="2" charset="0"/>
      <p:regular r:id="rId23"/>
      <p:italic r:id="rId24"/>
    </p:embeddedFont>
    <p:embeddedFont>
      <p:font typeface="Scope One" panose="020B0604020202020204" charset="0"/>
      <p:regular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438"/>
    <a:srgbClr val="E8E8E8"/>
    <a:srgbClr val="344354"/>
    <a:srgbClr val="AFADA8"/>
    <a:srgbClr val="D9D6D2"/>
    <a:srgbClr val="CEC9C0"/>
    <a:srgbClr val="ECEAE7"/>
    <a:srgbClr val="58524A"/>
    <a:srgbClr val="B4AEA6"/>
    <a:srgbClr val="8277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0CD04C-C54C-F493-9007-187893E6C2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88EAA-7C34-7087-7817-CCEBB374CA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47EC4-6195-4C46-B306-9B94802A645C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BC2DC-8796-BB97-C6C0-E51333D4AB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620EA-9A8C-2896-6B41-A6034AD314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DC449-A73A-483D-BF68-6171E169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450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28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222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495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750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33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076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538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274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008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3C4C2B9-F078-4461-BFFD-863F79C715D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5C4793D9-378D-4226-B652-8CF471B1BD04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889E0284-E8D9-441C-94D7-6C95D4E30F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9732" y="1041400"/>
            <a:ext cx="4161367" cy="47752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4D3DAF-C2DA-49C7-B4EA-4FB6A7E0CF73}"/>
              </a:ext>
            </a:extLst>
          </p:cNvPr>
          <p:cNvSpPr/>
          <p:nvPr userDrawn="1"/>
        </p:nvSpPr>
        <p:spPr>
          <a:xfrm>
            <a:off x="5283200" y="1041400"/>
            <a:ext cx="6616700" cy="477520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CD272-C9F4-4421-D8BC-49868951E3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‹#›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6641F0E-23E4-4CAE-8240-C35117F1637C}"/>
              </a:ext>
            </a:extLst>
          </p:cNvPr>
          <p:cNvSpPr/>
          <p:nvPr userDrawn="1"/>
        </p:nvSpPr>
        <p:spPr>
          <a:xfrm>
            <a:off x="2662989" y="1250950"/>
            <a:ext cx="6866022" cy="477520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8020EC4-7153-4C2B-A148-FBC1CE829594}"/>
              </a:ext>
            </a:extLst>
          </p:cNvPr>
          <p:cNvCxnSpPr/>
          <p:nvPr userDrawn="1"/>
        </p:nvCxnSpPr>
        <p:spPr>
          <a:xfrm>
            <a:off x="3009499" y="1636495"/>
            <a:ext cx="6173002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C9933D-564C-4B06-A58C-2C738814A375}"/>
              </a:ext>
            </a:extLst>
          </p:cNvPr>
          <p:cNvCxnSpPr/>
          <p:nvPr userDrawn="1"/>
        </p:nvCxnSpPr>
        <p:spPr>
          <a:xfrm>
            <a:off x="3009499" y="5640606"/>
            <a:ext cx="6173002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088A0C-DAF6-1235-0D95-40458E6FE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‹#›</a:t>
            </a:fld>
            <a:endParaRPr lang="en-US" dirty="0">
              <a:solidFill>
                <a:srgbClr val="E8E8E8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05491-032C-7AC3-AA31-A8FB1C1CB97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ctr"/>
            <a:r>
              <a:rPr lang="en-US"/>
              <a:t>12/22/2025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6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4D1B2161-3238-4189-B693-B044293826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34611" y="992778"/>
            <a:ext cx="3633878" cy="48724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4D7F258-694C-42FC-B469-06FB09A5540F}"/>
              </a:ext>
            </a:extLst>
          </p:cNvPr>
          <p:cNvCxnSpPr>
            <a:cxnSpLocks/>
          </p:cNvCxnSpPr>
          <p:nvPr userDrawn="1"/>
        </p:nvCxnSpPr>
        <p:spPr>
          <a:xfrm>
            <a:off x="423513" y="6422457"/>
            <a:ext cx="11344976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4BC14B-C64F-4750-AE30-578C8AA7AAEC}"/>
              </a:ext>
            </a:extLst>
          </p:cNvPr>
          <p:cNvCxnSpPr>
            <a:cxnSpLocks/>
          </p:cNvCxnSpPr>
          <p:nvPr userDrawn="1"/>
        </p:nvCxnSpPr>
        <p:spPr>
          <a:xfrm>
            <a:off x="423513" y="435543"/>
            <a:ext cx="11344976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32080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34BD17-F98C-4E34-8FA8-6C6C8000AC69}"/>
              </a:ext>
            </a:extLst>
          </p:cNvPr>
          <p:cNvSpPr/>
          <p:nvPr userDrawn="1"/>
        </p:nvSpPr>
        <p:spPr>
          <a:xfrm>
            <a:off x="710665" y="0"/>
            <a:ext cx="10770670" cy="685800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3EF7BEA4-7AC4-4E10-A086-AD2C6C13A2F2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963323" y="167369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1DBA464D-4190-4317-8E66-E360580B5A0F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6371515" y="167369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5A142-67D0-8D56-F540-448DED24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067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1EF411B-DDED-4F13-BF54-DF4CC2F44A5F}"/>
              </a:ext>
            </a:extLst>
          </p:cNvPr>
          <p:cNvCxnSpPr>
            <a:cxnSpLocks/>
          </p:cNvCxnSpPr>
          <p:nvPr userDrawn="1"/>
        </p:nvCxnSpPr>
        <p:spPr>
          <a:xfrm>
            <a:off x="0" y="6408019"/>
            <a:ext cx="12192000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501BD6D-D21E-42A0-BAA5-8743D221F515}"/>
              </a:ext>
            </a:extLst>
          </p:cNvPr>
          <p:cNvCxnSpPr/>
          <p:nvPr userDrawn="1"/>
        </p:nvCxnSpPr>
        <p:spPr>
          <a:xfrm>
            <a:off x="1803133" y="6408018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2DE4F86-03CE-4C3E-97E0-9A362E7C991E}"/>
              </a:ext>
            </a:extLst>
          </p:cNvPr>
          <p:cNvCxnSpPr/>
          <p:nvPr userDrawn="1"/>
        </p:nvCxnSpPr>
        <p:spPr>
          <a:xfrm>
            <a:off x="10388868" y="6408018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933B4CD-91EC-407E-B198-86077FA645E1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49980"/>
            <a:ext cx="12192000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04A396B-D963-4BA5-8439-DB32E4FC919D}"/>
              </a:ext>
            </a:extLst>
          </p:cNvPr>
          <p:cNvCxnSpPr/>
          <p:nvPr userDrawn="1"/>
        </p:nvCxnSpPr>
        <p:spPr>
          <a:xfrm flipV="1">
            <a:off x="1803133" y="0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D4CEECC-B23C-43D9-A793-F67DD5927CD4}"/>
              </a:ext>
            </a:extLst>
          </p:cNvPr>
          <p:cNvCxnSpPr/>
          <p:nvPr userDrawn="1"/>
        </p:nvCxnSpPr>
        <p:spPr>
          <a:xfrm flipV="1">
            <a:off x="10388868" y="0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61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17">
            <a:extLst>
              <a:ext uri="{FF2B5EF4-FFF2-40B4-BE49-F238E27FC236}">
                <a16:creationId xmlns:a16="http://schemas.microsoft.com/office/drawing/2014/main" id="{526E8C51-4181-40AC-9F35-8B8B38EB90F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86942" y="1906385"/>
            <a:ext cx="1736679" cy="2288243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7">
            <a:extLst>
              <a:ext uri="{FF2B5EF4-FFF2-40B4-BE49-F238E27FC236}">
                <a16:creationId xmlns:a16="http://schemas.microsoft.com/office/drawing/2014/main" id="{3CF96467-E4EA-4BD6-BCAC-6FB4348B74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3432" y="1906385"/>
            <a:ext cx="1736679" cy="2288243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7">
            <a:extLst>
              <a:ext uri="{FF2B5EF4-FFF2-40B4-BE49-F238E27FC236}">
                <a16:creationId xmlns:a16="http://schemas.microsoft.com/office/drawing/2014/main" id="{95DA0B3C-2DB2-4BE6-8607-9501FF82B5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71778" y="1906385"/>
            <a:ext cx="1736679" cy="2288243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155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bg>
      <p:bgPr>
        <a:solidFill>
          <a:srgbClr val="AFAD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691B8BA6-5947-4F4B-89F8-3B8724ADCE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46685" y="2249715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B0AD586D-0F89-4248-9C32-3E32769BE7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14799" y="2249715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562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1A2B33CF-22E7-49ED-A02F-04182202225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9086" y="1650881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DF1D36F-F740-4CB6-9A6D-3059426151C3}"/>
              </a:ext>
            </a:extLst>
          </p:cNvPr>
          <p:cNvCxnSpPr/>
          <p:nvPr userDrawn="1"/>
        </p:nvCxnSpPr>
        <p:spPr>
          <a:xfrm>
            <a:off x="2499360" y="449981"/>
            <a:ext cx="7193280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BFE20E5-03CB-4802-8CBF-691B4928FF08}"/>
              </a:ext>
            </a:extLst>
          </p:cNvPr>
          <p:cNvCxnSpPr/>
          <p:nvPr userDrawn="1"/>
        </p:nvCxnSpPr>
        <p:spPr>
          <a:xfrm>
            <a:off x="2499360" y="6408019"/>
            <a:ext cx="7193280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777371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313B6D5-302E-4772-8F07-8AD53B7AC701}"/>
              </a:ext>
            </a:extLst>
          </p:cNvPr>
          <p:cNvCxnSpPr>
            <a:cxnSpLocks/>
          </p:cNvCxnSpPr>
          <p:nvPr userDrawn="1"/>
        </p:nvCxnSpPr>
        <p:spPr>
          <a:xfrm>
            <a:off x="0" y="6408019"/>
            <a:ext cx="12192000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4B6EF9-E2D5-49C6-B813-E254AB19AA81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49980"/>
            <a:ext cx="12192000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13019D47-2C54-4CEF-B4DE-2FB4423C8E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968343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226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D5F39C18-18AF-4E09-944A-5965CF104CC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37859" y="1502278"/>
            <a:ext cx="2873828" cy="385333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998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CCE859-079B-43CC-B7E4-9CDD1CD83D50}"/>
              </a:ext>
            </a:extLst>
          </p:cNvPr>
          <p:cNvSpPr/>
          <p:nvPr userDrawn="1"/>
        </p:nvSpPr>
        <p:spPr>
          <a:xfrm>
            <a:off x="710665" y="1289785"/>
            <a:ext cx="8904973" cy="427843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B5DF710-8DD1-45BC-BDEE-829880FACEDF}"/>
              </a:ext>
            </a:extLst>
          </p:cNvPr>
          <p:cNvCxnSpPr>
            <a:cxnSpLocks/>
          </p:cNvCxnSpPr>
          <p:nvPr userDrawn="1"/>
        </p:nvCxnSpPr>
        <p:spPr>
          <a:xfrm>
            <a:off x="919559" y="5296497"/>
            <a:ext cx="8487186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EAA1E31-5EBE-4B38-A9FF-D378D3E6CE65}"/>
              </a:ext>
            </a:extLst>
          </p:cNvPr>
          <p:cNvCxnSpPr>
            <a:cxnSpLocks/>
          </p:cNvCxnSpPr>
          <p:nvPr userDrawn="1"/>
        </p:nvCxnSpPr>
        <p:spPr>
          <a:xfrm>
            <a:off x="919559" y="1561503"/>
            <a:ext cx="8487186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그림 개체 틀 11">
            <a:extLst>
              <a:ext uri="{FF2B5EF4-FFF2-40B4-BE49-F238E27FC236}">
                <a16:creationId xmlns:a16="http://schemas.microsoft.com/office/drawing/2014/main" id="{36A08DEC-E99B-4B6E-8BAE-A228EBF59974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716277" y="863142"/>
            <a:ext cx="2422446" cy="5256000"/>
          </a:xfrm>
          <a:prstGeom prst="roundRect">
            <a:avLst>
              <a:gd name="adj" fmla="val 1413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 marL="228600" marR="0" indent="-22860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2446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36114B7-78E3-4433-AF7A-8073FFC1E0DE}"/>
              </a:ext>
            </a:extLst>
          </p:cNvPr>
          <p:cNvSpPr/>
          <p:nvPr userDrawn="1"/>
        </p:nvSpPr>
        <p:spPr>
          <a:xfrm>
            <a:off x="710665" y="1289785"/>
            <a:ext cx="8904973" cy="427843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A53DD91-3A81-4923-88F7-9F309AAE30E8}"/>
              </a:ext>
            </a:extLst>
          </p:cNvPr>
          <p:cNvCxnSpPr>
            <a:cxnSpLocks/>
          </p:cNvCxnSpPr>
          <p:nvPr userDrawn="1"/>
        </p:nvCxnSpPr>
        <p:spPr>
          <a:xfrm>
            <a:off x="919559" y="5296497"/>
            <a:ext cx="8487186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FD2ACCE-BF86-474D-8A73-6126CE0664DB}"/>
              </a:ext>
            </a:extLst>
          </p:cNvPr>
          <p:cNvCxnSpPr>
            <a:cxnSpLocks/>
          </p:cNvCxnSpPr>
          <p:nvPr userDrawn="1"/>
        </p:nvCxnSpPr>
        <p:spPr>
          <a:xfrm>
            <a:off x="919559" y="1561503"/>
            <a:ext cx="8487186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5">
            <a:extLst>
              <a:ext uri="{FF2B5EF4-FFF2-40B4-BE49-F238E27FC236}">
                <a16:creationId xmlns:a16="http://schemas.microsoft.com/office/drawing/2014/main" id="{84C159D9-C9F8-45DB-9FC1-58A45986EA3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63497" y="754053"/>
            <a:ext cx="3997870" cy="5332422"/>
          </a:xfrm>
          <a:prstGeom prst="roundRect">
            <a:avLst>
              <a:gd name="adj" fmla="val 137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978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611BF-E48F-4498-BC2D-78B8085531DD}"/>
              </a:ext>
            </a:extLst>
          </p:cNvPr>
          <p:cNvSpPr/>
          <p:nvPr userDrawn="1"/>
        </p:nvSpPr>
        <p:spPr>
          <a:xfrm>
            <a:off x="710665" y="1289785"/>
            <a:ext cx="8904973" cy="427843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5940345-4334-4AB6-9960-AAF59A2F507B}"/>
              </a:ext>
            </a:extLst>
          </p:cNvPr>
          <p:cNvCxnSpPr>
            <a:cxnSpLocks/>
          </p:cNvCxnSpPr>
          <p:nvPr userDrawn="1"/>
        </p:nvCxnSpPr>
        <p:spPr>
          <a:xfrm>
            <a:off x="919559" y="5296497"/>
            <a:ext cx="8487186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ECD5629-028D-40D3-970B-8E20D96834E7}"/>
              </a:ext>
            </a:extLst>
          </p:cNvPr>
          <p:cNvCxnSpPr>
            <a:cxnSpLocks/>
          </p:cNvCxnSpPr>
          <p:nvPr userDrawn="1"/>
        </p:nvCxnSpPr>
        <p:spPr>
          <a:xfrm>
            <a:off x="919559" y="1561503"/>
            <a:ext cx="8487186" cy="0"/>
          </a:xfrm>
          <a:prstGeom prst="line">
            <a:avLst/>
          </a:prstGeom>
          <a:noFill/>
          <a:ln w="12700" cap="flat">
            <a:solidFill>
              <a:srgbClr val="122438"/>
            </a:solidFill>
            <a:prstDash val="solid"/>
            <a:miter/>
          </a:ln>
        </p:spPr>
      </p:cxnSp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그림 개체 틀 8">
            <a:extLst>
              <a:ext uri="{FF2B5EF4-FFF2-40B4-BE49-F238E27FC236}">
                <a16:creationId xmlns:a16="http://schemas.microsoft.com/office/drawing/2014/main" id="{8E9A8589-F777-49CF-BB9B-AAE0790D69E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40532" y="1325444"/>
            <a:ext cx="5209432" cy="32227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446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C852E55-FC7F-44B6-B5B4-F1413E569130}"/>
              </a:ext>
            </a:extLst>
          </p:cNvPr>
          <p:cNvSpPr/>
          <p:nvPr userDrawn="1"/>
        </p:nvSpPr>
        <p:spPr>
          <a:xfrm>
            <a:off x="710665" y="0"/>
            <a:ext cx="10770670" cy="685800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9255380-8B76-4DEF-A9CF-E7B2454B1A0A}"/>
              </a:ext>
            </a:extLst>
          </p:cNvPr>
          <p:cNvCxnSpPr>
            <a:cxnSpLocks/>
          </p:cNvCxnSpPr>
          <p:nvPr userDrawn="1"/>
        </p:nvCxnSpPr>
        <p:spPr>
          <a:xfrm>
            <a:off x="963325" y="6422457"/>
            <a:ext cx="10265352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/>
          </a:ln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F8ADEDF-834C-4236-90E8-BF7597F1B906}"/>
              </a:ext>
            </a:extLst>
          </p:cNvPr>
          <p:cNvCxnSpPr>
            <a:cxnSpLocks/>
          </p:cNvCxnSpPr>
          <p:nvPr userDrawn="1"/>
        </p:nvCxnSpPr>
        <p:spPr>
          <a:xfrm>
            <a:off x="963325" y="435543"/>
            <a:ext cx="10265352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/>
          </a:ln>
        </p:spPr>
      </p:cxnSp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5CE4B56B-E097-474E-B87C-4953EC41BC14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919711" y="0"/>
            <a:ext cx="2873828" cy="535561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 lIns="90000" tIns="828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9FE357-5CB1-4EF3-7824-1FC79CD8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‹#›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948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8020EC4-7153-4C2B-A148-FBC1CE829594}"/>
              </a:ext>
            </a:extLst>
          </p:cNvPr>
          <p:cNvCxnSpPr/>
          <p:nvPr userDrawn="1"/>
        </p:nvCxnSpPr>
        <p:spPr>
          <a:xfrm>
            <a:off x="3009499" y="806116"/>
            <a:ext cx="6173002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C9933D-564C-4B06-A58C-2C738814A375}"/>
              </a:ext>
            </a:extLst>
          </p:cNvPr>
          <p:cNvCxnSpPr/>
          <p:nvPr userDrawn="1"/>
        </p:nvCxnSpPr>
        <p:spPr>
          <a:xfrm>
            <a:off x="3009499" y="6051885"/>
            <a:ext cx="6173002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700489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83DEA18-040E-4294-869D-8BC3C98EC574}"/>
              </a:ext>
            </a:extLst>
          </p:cNvPr>
          <p:cNvSpPr/>
          <p:nvPr userDrawn="1"/>
        </p:nvSpPr>
        <p:spPr>
          <a:xfrm>
            <a:off x="0" y="1041400"/>
            <a:ext cx="12192000" cy="477520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CD1AB5-40DF-680C-FDC5-78E16C769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‹#›</a:t>
            </a:fld>
            <a:endParaRPr lang="en-US" dirty="0">
              <a:solidFill>
                <a:srgbClr val="E8E8E8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01355-FCA4-FCCE-64F1-DBA3832D108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ctr"/>
            <a:r>
              <a:rPr lang="en-US"/>
              <a:t>12/22/2025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13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B906A29-58E2-4382-9F76-069C9E9C8129}"/>
              </a:ext>
            </a:extLst>
          </p:cNvPr>
          <p:cNvSpPr/>
          <p:nvPr userDrawn="1"/>
        </p:nvSpPr>
        <p:spPr>
          <a:xfrm>
            <a:off x="269400" y="270000"/>
            <a:ext cx="11653200" cy="6318000"/>
          </a:xfrm>
          <a:prstGeom prst="rect">
            <a:avLst/>
          </a:prstGeom>
          <a:solidFill>
            <a:srgbClr val="E8E8E8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07745-64A0-DDB9-1C43-9269E280C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27300" y="6222875"/>
            <a:ext cx="4953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5B1913-58CB-40F0-814A-926B1B0C37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03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bg>
      <p:bgPr>
        <a:solidFill>
          <a:srgbClr val="D9D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EA93781-569F-4B8B-8C9E-5E9289AE1BD3}"/>
              </a:ext>
            </a:extLst>
          </p:cNvPr>
          <p:cNvCxnSpPr/>
          <p:nvPr userDrawn="1"/>
        </p:nvCxnSpPr>
        <p:spPr>
          <a:xfrm>
            <a:off x="583933" y="542625"/>
            <a:ext cx="11024134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/>
          </a:ln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533EC1B-7CF4-41C1-B439-4CFFB94C698F}"/>
              </a:ext>
            </a:extLst>
          </p:cNvPr>
          <p:cNvCxnSpPr/>
          <p:nvPr userDrawn="1"/>
        </p:nvCxnSpPr>
        <p:spPr>
          <a:xfrm>
            <a:off x="583933" y="6460849"/>
            <a:ext cx="11024134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/>
          </a:ln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B89C7-378B-38D4-2947-B4A23EE25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5B1913-58CB-40F0-814A-926B1B0C37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6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bg>
      <p:bgPr>
        <a:solidFill>
          <a:srgbClr val="AFAD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AD03FA-57CE-DDD8-5EF2-5B2B80A3D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‹#›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3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6891C630-4413-40DE-8926-5CE402AEEF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03130" y="1155123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9" name="그림 개체 틀 17">
            <a:extLst>
              <a:ext uri="{FF2B5EF4-FFF2-40B4-BE49-F238E27FC236}">
                <a16:creationId xmlns:a16="http://schemas.microsoft.com/office/drawing/2014/main" id="{E50B09CB-7553-4132-9CC9-2A35D82C9F2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03130" y="3726667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0" name="그림 개체 틀 17">
            <a:extLst>
              <a:ext uri="{FF2B5EF4-FFF2-40B4-BE49-F238E27FC236}">
                <a16:creationId xmlns:a16="http://schemas.microsoft.com/office/drawing/2014/main" id="{5352A50E-DE60-4EC0-8138-D567AFCC4C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46630" y="1155123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1" name="그림 개체 틀 17">
            <a:extLst>
              <a:ext uri="{FF2B5EF4-FFF2-40B4-BE49-F238E27FC236}">
                <a16:creationId xmlns:a16="http://schemas.microsoft.com/office/drawing/2014/main" id="{6F1A0F3B-6DE1-44FA-91BA-4B0D0AA11E5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630" y="3726667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338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0230EFE-986B-4EB6-91D3-F9F8602277CF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313019" y="3429001"/>
            <a:ext cx="6858004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0BC83D-E06E-4922-B1A7-B54E2E382414}"/>
              </a:ext>
            </a:extLst>
          </p:cNvPr>
          <p:cNvCxnSpPr/>
          <p:nvPr userDrawn="1"/>
        </p:nvCxnSpPr>
        <p:spPr>
          <a:xfrm rot="16200000">
            <a:off x="11967010" y="5618749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F68A8BE-56AC-4380-9F58-B635BB1E8D17}"/>
              </a:ext>
            </a:extLst>
          </p:cNvPr>
          <p:cNvCxnSpPr/>
          <p:nvPr userDrawn="1"/>
        </p:nvCxnSpPr>
        <p:spPr>
          <a:xfrm rot="16200000">
            <a:off x="11967010" y="789270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10A3C88-8E73-4712-A14C-BB7A7E2E4146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-2979022" y="3429001"/>
            <a:ext cx="6858004" cy="0"/>
          </a:xfrm>
          <a:prstGeom prst="line">
            <a:avLst/>
          </a:prstGeom>
          <a:noFill/>
          <a:ln w="12700" cap="flat">
            <a:solidFill>
              <a:srgbClr val="E8E8E8"/>
            </a:solidFill>
            <a:prstDash val="solid"/>
            <a:miter/>
          </a:ln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FE988E9-1BCE-46BE-8057-059AE5C2BD29}"/>
              </a:ext>
            </a:extLst>
          </p:cNvPr>
          <p:cNvCxnSpPr/>
          <p:nvPr userDrawn="1"/>
        </p:nvCxnSpPr>
        <p:spPr>
          <a:xfrm rot="5400000" flipH="1">
            <a:off x="224991" y="5618749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5CEC5EF-DA39-4484-8D51-DE41A5A98BAC}"/>
              </a:ext>
            </a:extLst>
          </p:cNvPr>
          <p:cNvCxnSpPr/>
          <p:nvPr userDrawn="1"/>
        </p:nvCxnSpPr>
        <p:spPr>
          <a:xfrm rot="5400000" flipH="1">
            <a:off x="224991" y="789270"/>
            <a:ext cx="0" cy="4499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66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888E836-5B2F-423C-BE8C-132383DBBA8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6BFC3001-7E4F-48C1-99B3-0A6A4179FF46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081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F46929A-99F6-4803-AADD-E248E3A5233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42FE5389-A5FB-41B9-8CD0-650849B461C5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A55DAF-701B-10FB-FA62-3EDE88730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5" y="6413500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8E8E8"/>
                </a:solidFill>
              </a:defRPr>
            </a:lvl1pPr>
          </a:lstStyle>
          <a:p>
            <a:fld id="{EE5B1913-58CB-40F0-814A-926B1B0C3747}" type="slidenum">
              <a:rPr lang="en-US" smtClean="0"/>
              <a:pPr/>
              <a:t>‹#›</a:t>
            </a:fld>
            <a:endParaRPr lang="en-US" dirty="0">
              <a:solidFill>
                <a:srgbClr val="E8E8E8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5A231-71D0-DBBB-735B-7D5E314A0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48800" y="9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E8E8E8"/>
                </a:solidFill>
              </a:defRPr>
            </a:lvl1pPr>
          </a:lstStyle>
          <a:p>
            <a:pPr algn="ctr"/>
            <a:r>
              <a:rPr lang="en-US"/>
              <a:t>12/22/2025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76" r:id="rId22"/>
    <p:sldLayoutId id="2147483664" r:id="rId2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ida.org/catalog/papers/2002_codered/codered.pdf" TargetMode="External"/><Relationship Id="rId2" Type="http://schemas.openxmlformats.org/officeDocument/2006/relationships/hyperlink" Target="https://industrial.panasonic.com/cdbs/www-data/pdf2/AAA4000/AAA4000C321.pdf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pcgamer.com/apple-apologizes-for-throttling-intel-cpus-inside-macbook-pros-issues-fix/" TargetMode="External"/><Relationship Id="rId4" Type="http://schemas.openxmlformats.org/officeDocument/2006/relationships/hyperlink" Target="https://www.youtube.com/watch?v=Dx8J125s4c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7F41637-77EF-37F4-505C-254D052B4881}"/>
              </a:ext>
            </a:extLst>
          </p:cNvPr>
          <p:cNvGrpSpPr/>
          <p:nvPr/>
        </p:nvGrpSpPr>
        <p:grpSpPr>
          <a:xfrm>
            <a:off x="215897" y="94303"/>
            <a:ext cx="2079831" cy="888187"/>
            <a:chOff x="215897" y="94303"/>
            <a:chExt cx="2530001" cy="107589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403012F-CEC3-7977-B373-C17A41F5A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11" r="6233"/>
            <a:stretch>
              <a:fillRect/>
            </a:stretch>
          </p:blipFill>
          <p:spPr>
            <a:xfrm>
              <a:off x="1170017" y="94303"/>
              <a:ext cx="1575881" cy="1075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9E97EE8-7117-A165-117E-5D670F999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650"/>
            <a:stretch>
              <a:fillRect/>
            </a:stretch>
          </p:blipFill>
          <p:spPr>
            <a:xfrm>
              <a:off x="215897" y="94303"/>
              <a:ext cx="983304" cy="1075892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D9B5E7C-1292-B917-99D6-9D204A7EA717}"/>
              </a:ext>
            </a:extLst>
          </p:cNvPr>
          <p:cNvSpPr txBox="1"/>
          <p:nvPr/>
        </p:nvSpPr>
        <p:spPr>
          <a:xfrm>
            <a:off x="215897" y="3797470"/>
            <a:ext cx="11603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rgbClr val="122438"/>
                </a:solidFill>
                <a:cs typeface="Arial" panose="020B0604020202020204" pitchFamily="34" charset="0"/>
              </a:rPr>
              <a:t>Differential Equations - Assignment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614A00-88F2-5E0D-8F3B-3A1B70387973}"/>
              </a:ext>
            </a:extLst>
          </p:cNvPr>
          <p:cNvCxnSpPr/>
          <p:nvPr/>
        </p:nvCxnSpPr>
        <p:spPr>
          <a:xfrm>
            <a:off x="3005846" y="1425583"/>
            <a:ext cx="6255428" cy="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B4B4B5-854D-B91B-301C-02D5D3242B38}"/>
              </a:ext>
            </a:extLst>
          </p:cNvPr>
          <p:cNvSpPr txBox="1"/>
          <p:nvPr/>
        </p:nvSpPr>
        <p:spPr>
          <a:xfrm>
            <a:off x="3959828" y="6220013"/>
            <a:ext cx="4115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cs typeface="Arial" panose="020B0604020202020204" pitchFamily="34" charset="0"/>
              </a:rPr>
              <a:t>Instructor: Assist. Prof. Dr. Semra ZEREN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8F0753-4828-EE2D-F5EA-8A92AE1FC9D6}"/>
              </a:ext>
            </a:extLst>
          </p:cNvPr>
          <p:cNvSpPr txBox="1"/>
          <p:nvPr/>
        </p:nvSpPr>
        <p:spPr>
          <a:xfrm>
            <a:off x="215897" y="1747105"/>
            <a:ext cx="11603208" cy="193899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122438"/>
                </a:solidFill>
                <a:latin typeface="+mj-lt"/>
                <a:cs typeface="Arial" panose="020B0604020202020204" pitchFamily="34" charset="0"/>
              </a:rPr>
              <a:t>First-Order DE Applications in</a:t>
            </a:r>
            <a:endParaRPr lang="ar-IQ" altLang="ko-KR" sz="6000" dirty="0">
              <a:solidFill>
                <a:srgbClr val="122438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altLang="ko-KR" sz="6000" dirty="0">
                <a:solidFill>
                  <a:srgbClr val="122438"/>
                </a:solidFill>
                <a:latin typeface="+mj-lt"/>
                <a:cs typeface="Arial" panose="020B0604020202020204" pitchFamily="34" charset="0"/>
              </a:rPr>
              <a:t>Computer Engineering</a:t>
            </a:r>
            <a:endParaRPr lang="ko-KR" altLang="en-US" sz="6000" dirty="0">
              <a:solidFill>
                <a:srgbClr val="122438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1F9EB7-9ED8-7E6C-DB2A-E9A79E9A80A8}"/>
              </a:ext>
            </a:extLst>
          </p:cNvPr>
          <p:cNvSpPr txBox="1"/>
          <p:nvPr/>
        </p:nvSpPr>
        <p:spPr>
          <a:xfrm>
            <a:off x="215897" y="4613567"/>
            <a:ext cx="11603209" cy="837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/>
              <a:t>Presented by: 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Malik ALHASAN </a:t>
            </a:r>
            <a:r>
              <a:rPr lang="en-US" altLang="ko-KR" b="1" dirty="0">
                <a:solidFill>
                  <a:srgbClr val="122438"/>
                </a:solidFill>
                <a:cs typeface="Arial" panose="020B0604020202020204" pitchFamily="34" charset="0"/>
              </a:rPr>
              <a:t>|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t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n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N </a:t>
            </a:r>
            <a:r>
              <a:rPr lang="en-US" altLang="ko-KR" b="1" dirty="0">
                <a:solidFill>
                  <a:srgbClr val="122438"/>
                </a:solidFill>
                <a:cs typeface="Arial" panose="020B0604020202020204" pitchFamily="34" charset="0"/>
              </a:rPr>
              <a:t>|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r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n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Ş </a:t>
            </a:r>
            <a:r>
              <a:rPr lang="en-US" altLang="ko-KR" b="1" dirty="0">
                <a:solidFill>
                  <a:srgbClr val="122438"/>
                </a:solidFill>
                <a:cs typeface="Arial" panose="020B0604020202020204" pitchFamily="34" charset="0"/>
              </a:rPr>
              <a:t>|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a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a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K </a:t>
            </a:r>
            <a:r>
              <a:rPr lang="en-US" altLang="ko-KR" b="1" dirty="0">
                <a:solidFill>
                  <a:srgbClr val="122438"/>
                </a:solidFill>
                <a:cs typeface="Arial" panose="020B0604020202020204" pitchFamily="34" charset="0"/>
              </a:rPr>
              <a:t>|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h </a:t>
            </a:r>
            <a:r>
              <a:rPr lang="ar-IQ" altLang="ko-KR" dirty="0">
                <a:solidFill>
                  <a:srgbClr val="122438"/>
                </a:solidFill>
                <a:cs typeface="Arial" panose="020B0604020202020204" pitchFamily="34" charset="0"/>
              </a:rPr>
              <a:t>****</a:t>
            </a:r>
            <a:r>
              <a:rPr lang="en-US" altLang="ko-KR" dirty="0">
                <a:solidFill>
                  <a:srgbClr val="122438"/>
                </a:solidFill>
                <a:cs typeface="Arial" panose="020B0604020202020204" pitchFamily="34" charset="0"/>
              </a:rPr>
              <a:t>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2720ED-9845-BB54-A927-3EF723A1BE28}"/>
              </a:ext>
            </a:extLst>
          </p:cNvPr>
          <p:cNvSpPr txBox="1"/>
          <p:nvPr/>
        </p:nvSpPr>
        <p:spPr>
          <a:xfrm>
            <a:off x="-137888" y="6396273"/>
            <a:ext cx="227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25/12/2025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15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BC8E9F7-907E-4D93-AE72-7648ECB3358F}"/>
              </a:ext>
            </a:extLst>
          </p:cNvPr>
          <p:cNvSpPr txBox="1"/>
          <p:nvPr/>
        </p:nvSpPr>
        <p:spPr>
          <a:xfrm>
            <a:off x="1161982" y="452015"/>
            <a:ext cx="6660682" cy="76944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 sz="4400" b="0" dirty="0">
                <a:solidFill>
                  <a:srgbClr val="122438"/>
                </a:solidFill>
                <a:latin typeface="Scope One" panose="02060403030504020204" pitchFamily="18" charset="0"/>
                <a:cs typeface="Scope One" panose="02060403030504020204" pitchFamily="18" charset="0"/>
              </a:rPr>
              <a:t>Contents</a:t>
            </a:r>
            <a:endParaRPr lang="ko-KR" altLang="en-US" sz="4400" b="0" dirty="0">
              <a:solidFill>
                <a:srgbClr val="122438"/>
              </a:solidFill>
              <a:latin typeface="Scope One" panose="02060403030504020204" pitchFamily="18" charset="0"/>
              <a:cs typeface="Scope One" panose="02060403030504020204" pitchFamily="18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295538-5003-4822-9311-1A57037BF6F9}"/>
              </a:ext>
            </a:extLst>
          </p:cNvPr>
          <p:cNvSpPr/>
          <p:nvPr/>
        </p:nvSpPr>
        <p:spPr>
          <a:xfrm>
            <a:off x="1161982" y="1138709"/>
            <a:ext cx="14742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01</a:t>
            </a:r>
            <a:endParaRPr lang="ko-KR" altLang="en-US" sz="60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EE3D31-63D1-497E-82A2-3D784C4E326B}"/>
              </a:ext>
            </a:extLst>
          </p:cNvPr>
          <p:cNvSpPr txBox="1"/>
          <p:nvPr/>
        </p:nvSpPr>
        <p:spPr>
          <a:xfrm>
            <a:off x="1161986" y="2401054"/>
            <a:ext cx="493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sz="2000" dirty="0"/>
              <a:t>Analysis of Motherboard BIOS Battery lifespan using the Exponential Decay Model to determine critical failure thresholds.</a:t>
            </a:r>
            <a:endParaRPr lang="en-US" altLang="ko-KR" sz="2000" dirty="0">
              <a:solidFill>
                <a:srgbClr val="122438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2B818-3B14-4C65-9715-4DCFC4A1FDCA}"/>
              </a:ext>
            </a:extLst>
          </p:cNvPr>
          <p:cNvSpPr/>
          <p:nvPr/>
        </p:nvSpPr>
        <p:spPr>
          <a:xfrm>
            <a:off x="1161982" y="1907494"/>
            <a:ext cx="33781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122438"/>
                </a:solidFill>
                <a:latin typeface="+mj-lt"/>
              </a:rPr>
              <a:t> First Problem</a:t>
            </a:r>
            <a:endParaRPr lang="ko-KR" altLang="en-US" sz="36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27B4655-79F3-4381-8C2B-E8B004A6653E}"/>
              </a:ext>
            </a:extLst>
          </p:cNvPr>
          <p:cNvSpPr/>
          <p:nvPr/>
        </p:nvSpPr>
        <p:spPr>
          <a:xfrm>
            <a:off x="7035029" y="1138709"/>
            <a:ext cx="18074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02</a:t>
            </a:r>
            <a:endParaRPr lang="ko-KR" altLang="en-US" sz="60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C74AB9-E31E-4AB8-B3C6-30019E387D13}"/>
              </a:ext>
            </a:extLst>
          </p:cNvPr>
          <p:cNvSpPr txBox="1"/>
          <p:nvPr/>
        </p:nvSpPr>
        <p:spPr>
          <a:xfrm>
            <a:off x="6982360" y="2401054"/>
            <a:ext cx="44670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sz="2000" dirty="0"/>
              <a:t>Modeling the spread of the Code Red Worm across internet servers using the Logistic Growth Equation under limited capacity.</a:t>
            </a:r>
            <a:endParaRPr lang="ko-KR" altLang="en-US" sz="2000" dirty="0">
              <a:solidFill>
                <a:srgbClr val="122438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A0AE5DE-0663-4CEF-8DF8-A3F64B47423F}"/>
              </a:ext>
            </a:extLst>
          </p:cNvPr>
          <p:cNvSpPr/>
          <p:nvPr/>
        </p:nvSpPr>
        <p:spPr>
          <a:xfrm>
            <a:off x="6982360" y="1907494"/>
            <a:ext cx="3961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122438"/>
                </a:solidFill>
                <a:latin typeface="+mj-lt"/>
              </a:rPr>
              <a:t>Second Problem</a:t>
            </a:r>
            <a:endParaRPr lang="ko-KR" altLang="en-US" sz="36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2BCFB46-2D8E-443A-B230-340BCA67ED32}"/>
              </a:ext>
            </a:extLst>
          </p:cNvPr>
          <p:cNvSpPr/>
          <p:nvPr/>
        </p:nvSpPr>
        <p:spPr>
          <a:xfrm>
            <a:off x="1161983" y="3866921"/>
            <a:ext cx="18925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03</a:t>
            </a:r>
            <a:endParaRPr lang="ko-KR" altLang="en-US" sz="60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FEECF2-E5E4-4543-9815-D17A8E6271F4}"/>
              </a:ext>
            </a:extLst>
          </p:cNvPr>
          <p:cNvSpPr txBox="1"/>
          <p:nvPr/>
        </p:nvSpPr>
        <p:spPr>
          <a:xfrm>
            <a:off x="1161986" y="5090354"/>
            <a:ext cx="5248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altLang="ko-KR" sz="2000" dirty="0">
                <a:solidFill>
                  <a:srgbClr val="122438"/>
                </a:solidFill>
              </a:rPr>
              <a:t>Investigating the MacBook Pro Thermal Throttling issue using Newton’s Law of Cooling to calculate recovery time.</a:t>
            </a:r>
            <a:endParaRPr lang="ko-KR" altLang="en-US" sz="2000" dirty="0">
              <a:solidFill>
                <a:srgbClr val="122438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407424F-7DCE-4FB8-A196-C566363C607C}"/>
              </a:ext>
            </a:extLst>
          </p:cNvPr>
          <p:cNvSpPr/>
          <p:nvPr/>
        </p:nvSpPr>
        <p:spPr>
          <a:xfrm>
            <a:off x="1161986" y="4596794"/>
            <a:ext cx="33781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122438"/>
                </a:solidFill>
                <a:latin typeface="+mj-lt"/>
              </a:rPr>
              <a:t>Third Problem</a:t>
            </a:r>
            <a:endParaRPr lang="ko-KR" altLang="en-US" sz="36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A9230C5-8ECB-4AF9-A90F-65D473A8778E}"/>
              </a:ext>
            </a:extLst>
          </p:cNvPr>
          <p:cNvSpPr/>
          <p:nvPr/>
        </p:nvSpPr>
        <p:spPr>
          <a:xfrm>
            <a:off x="6982356" y="3866921"/>
            <a:ext cx="23464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04</a:t>
            </a:r>
            <a:endParaRPr lang="ko-KR" altLang="en-US" sz="60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29F7E4-B295-4319-85E2-47C8F22967A9}"/>
              </a:ext>
            </a:extLst>
          </p:cNvPr>
          <p:cNvSpPr txBox="1"/>
          <p:nvPr/>
        </p:nvSpPr>
        <p:spPr>
          <a:xfrm>
            <a:off x="6982357" y="5090354"/>
            <a:ext cx="45546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altLang="ko-KR" sz="2000" dirty="0">
                <a:solidFill>
                  <a:srgbClr val="122438"/>
                </a:solidFill>
              </a:rPr>
              <a:t>Citation of real-world data sources (Panasonic Datasheets, CAIDA Report, &amp; Tech Reviews).</a:t>
            </a:r>
            <a:endParaRPr lang="ko-KR" altLang="en-US" sz="2000" dirty="0">
              <a:solidFill>
                <a:srgbClr val="122438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1125074-539D-445F-978D-A089D7F96425}"/>
              </a:ext>
            </a:extLst>
          </p:cNvPr>
          <p:cNvSpPr/>
          <p:nvPr/>
        </p:nvSpPr>
        <p:spPr>
          <a:xfrm>
            <a:off x="6982360" y="4596794"/>
            <a:ext cx="33781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122438"/>
                </a:solidFill>
                <a:latin typeface="+mj-lt"/>
              </a:rPr>
              <a:t>References</a:t>
            </a:r>
            <a:endParaRPr lang="ko-KR" altLang="en-US" sz="36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00D3E-7F0D-39E1-76AA-9D1C161F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2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287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54D505-1B71-BF83-6077-680BA1AA8592}"/>
              </a:ext>
            </a:extLst>
          </p:cNvPr>
          <p:cNvSpPr txBox="1"/>
          <p:nvPr/>
        </p:nvSpPr>
        <p:spPr>
          <a:xfrm>
            <a:off x="569635" y="1003926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Motherboard BIOS Battery Analysis (CR2032)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6BC23-A4FC-48FD-9FEB-795626530312}"/>
              </a:ext>
            </a:extLst>
          </p:cNvPr>
          <p:cNvSpPr txBox="1"/>
          <p:nvPr/>
        </p:nvSpPr>
        <p:spPr>
          <a:xfrm>
            <a:off x="569635" y="419151"/>
            <a:ext cx="6842842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First Problem: Growth &amp; Decay</a:t>
            </a:r>
            <a:endParaRPr lang="ko-KR" altLang="en-US" sz="3600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5720278-040C-45D0-B31A-C6DA594BEA01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64151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B0D13E3-D0EE-CB95-85B7-DA4FA7BB242A}"/>
              </a:ext>
            </a:extLst>
          </p:cNvPr>
          <p:cNvSpPr txBox="1"/>
          <p:nvPr/>
        </p:nvSpPr>
        <p:spPr>
          <a:xfrm>
            <a:off x="569634" y="1896478"/>
            <a:ext cx="4624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122438"/>
                </a:solidFill>
                <a:latin typeface="+mj-lt"/>
              </a:rPr>
              <a:t>The Scenario</a:t>
            </a:r>
            <a:endParaRPr lang="ko-KR" altLang="en-US" sz="28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9EC1A-EBFA-8495-75FF-1584B877802F}"/>
              </a:ext>
            </a:extLst>
          </p:cNvPr>
          <p:cNvSpPr txBox="1"/>
          <p:nvPr/>
        </p:nvSpPr>
        <p:spPr>
          <a:xfrm>
            <a:off x="569635" y="2327364"/>
            <a:ext cx="478168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sz="2000" b="1" dirty="0"/>
              <a:t>Context: </a:t>
            </a:r>
            <a:r>
              <a:rPr lang="en-US" sz="2000" dirty="0"/>
              <a:t>Computer motherboards rely on CR2032 batteries to retain BIOS settings when unplugged.</a:t>
            </a:r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</a:rPr>
              <a:t>Issue: </a:t>
            </a:r>
            <a:r>
              <a:rPr lang="en-US" altLang="ko-KR" sz="2000" dirty="0">
                <a:solidFill>
                  <a:srgbClr val="122438"/>
                </a:solidFill>
              </a:rPr>
              <a:t>Battery voltage decays naturally over time due to chemical structure.</a:t>
            </a:r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</a:rPr>
              <a:t>Goal: </a:t>
            </a:r>
            <a:r>
              <a:rPr lang="en-US" altLang="ko-KR" sz="2000" dirty="0">
                <a:solidFill>
                  <a:srgbClr val="122438"/>
                </a:solidFill>
              </a:rPr>
              <a:t>Determine the service life before voltage drops below the critical threshold (2.0V).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848AA-A947-D4CE-F44C-BFC97963D508}"/>
              </a:ext>
            </a:extLst>
          </p:cNvPr>
          <p:cNvSpPr txBox="1"/>
          <p:nvPr/>
        </p:nvSpPr>
        <p:spPr>
          <a:xfrm>
            <a:off x="6096000" y="1896478"/>
            <a:ext cx="4624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122438"/>
                </a:solidFill>
                <a:latin typeface="+mj-lt"/>
              </a:rPr>
              <a:t>Mathematical Model</a:t>
            </a:r>
            <a:endParaRPr lang="ko-KR" altLang="en-US" sz="2800" dirty="0">
              <a:solidFill>
                <a:srgbClr val="122438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46CBEC-615C-9AA7-DDDF-63915555EAFE}"/>
                  </a:ext>
                </a:extLst>
              </p:cNvPr>
              <p:cNvSpPr txBox="1"/>
              <p:nvPr/>
            </p:nvSpPr>
            <p:spPr>
              <a:xfrm>
                <a:off x="6096001" y="2327364"/>
                <a:ext cx="4624935" cy="798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285750" indent="-285750">
                  <a:buFont typeface="Overpass Light" panose="00000400000000000000" pitchFamily="2" charset="0"/>
                  <a:buChar char="−"/>
                  <a:defRPr sz="1400">
                    <a:solidFill>
                      <a:srgbClr val="1E292E"/>
                    </a:solidFill>
                  </a:defRPr>
                </a:lvl1pPr>
              </a:lstStyle>
              <a:p>
                <a:pPr marL="0" indent="0">
                  <a:buNone/>
                </a:pPr>
                <a:r>
                  <a:rPr lang="en-US" sz="2000" b="1" dirty="0"/>
                  <a:t>Equation:</a:t>
                </a:r>
                <a:r>
                  <a:rPr lang="en-US" sz="2000" dirty="0"/>
                  <a:t> Exponential Decay Model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46CBEC-615C-9AA7-DDDF-63915555E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327364"/>
                <a:ext cx="4624935" cy="798295"/>
              </a:xfrm>
              <a:prstGeom prst="rect">
                <a:avLst/>
              </a:prstGeom>
              <a:blipFill>
                <a:blip r:embed="rId3"/>
                <a:stretch>
                  <a:fillRect l="-1318" t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3984BE-1764-1164-7FF1-2745650D1784}"/>
                  </a:ext>
                </a:extLst>
              </p:cNvPr>
              <p:cNvSpPr txBox="1"/>
              <p:nvPr/>
            </p:nvSpPr>
            <p:spPr>
              <a:xfrm>
                <a:off x="6105727" y="3193723"/>
                <a:ext cx="5256179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285750" indent="-285750">
                  <a:buFont typeface="Overpass Light" panose="00000400000000000000" pitchFamily="2" charset="0"/>
                  <a:buChar char="−"/>
                  <a:defRPr sz="1400">
                    <a:solidFill>
                      <a:srgbClr val="1E292E"/>
                    </a:solidFill>
                  </a:defRPr>
                </a:lvl1pPr>
              </a:lstStyle>
              <a:p>
                <a:pPr marL="0" indent="0">
                  <a:buNone/>
                </a:pPr>
                <a:r>
                  <a:rPr lang="en-US" sz="2000" b="1" dirty="0"/>
                  <a:t>Given Data: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000" b="1" i="1" dirty="0"/>
                  <a:t>: </a:t>
                </a:r>
                <a:r>
                  <a:rPr lang="en-US" sz="2000" dirty="0"/>
                  <a:t>Decay constant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i="1" dirty="0"/>
                  <a:t>: </a:t>
                </a:r>
                <a:r>
                  <a:rPr lang="en-US" sz="2000" dirty="0"/>
                  <a:t>Time (Years)</a:t>
                </a:r>
              </a:p>
              <a:p>
                <a:r>
                  <a:rPr lang="en-US" sz="2000" b="1" dirty="0"/>
                  <a:t>Initial Voltage: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After 5 Years: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Target (Critical):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𝑐𝑟𝑖𝑡𝑖𝑐𝑎𝑙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3984BE-1764-1164-7FF1-2745650D1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727" y="3193723"/>
                <a:ext cx="5256179" cy="3354765"/>
              </a:xfrm>
              <a:prstGeom prst="rect">
                <a:avLst/>
              </a:prstGeom>
              <a:blipFill>
                <a:blip r:embed="rId4"/>
                <a:stretch>
                  <a:fillRect l="-1276" t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057C957-D8B9-8A36-96E3-369B2F495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27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9168-0E8C-F9E6-D738-473F8DC0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B4B65-F9FC-8F86-CDEB-366E2EA65581}"/>
              </a:ext>
            </a:extLst>
          </p:cNvPr>
          <p:cNvSpPr txBox="1"/>
          <p:nvPr/>
        </p:nvSpPr>
        <p:spPr>
          <a:xfrm>
            <a:off x="569635" y="1003926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Motherboard BIOS Battery Analysis (CR2032)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A809F-5598-4B39-1807-248B9C1C2540}"/>
              </a:ext>
            </a:extLst>
          </p:cNvPr>
          <p:cNvSpPr txBox="1"/>
          <p:nvPr/>
        </p:nvSpPr>
        <p:spPr>
          <a:xfrm>
            <a:off x="569635" y="419151"/>
            <a:ext cx="6842842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First Problem: Growth &amp; Decay</a:t>
            </a:r>
            <a:endParaRPr lang="ko-KR" altLang="en-US" sz="3600" dirty="0"/>
          </a:p>
        </p:txBody>
      </p:sp>
      <p:cxnSp>
        <p:nvCxnSpPr>
          <p:cNvPr id="7" name="직선 연결선 55">
            <a:extLst>
              <a:ext uri="{FF2B5EF4-FFF2-40B4-BE49-F238E27FC236}">
                <a16:creationId xmlns:a16="http://schemas.microsoft.com/office/drawing/2014/main" id="{B7C4D6FF-3A37-6CB6-3C02-1656BB2852FC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64151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5054B0D-27BB-C50E-8B07-1C7882842F20}"/>
              </a:ext>
            </a:extLst>
          </p:cNvPr>
          <p:cNvSpPr txBox="1"/>
          <p:nvPr/>
        </p:nvSpPr>
        <p:spPr>
          <a:xfrm>
            <a:off x="598814" y="1500049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122438"/>
                </a:solidFill>
                <a:latin typeface="+mj-lt"/>
              </a:rPr>
              <a:t>Solution:</a:t>
            </a:r>
            <a:endParaRPr lang="ko-KR" altLang="en-US" sz="32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9430E-538D-4917-D864-59B2CAB6B9FB}"/>
              </a:ext>
            </a:extLst>
          </p:cNvPr>
          <p:cNvSpPr txBox="1"/>
          <p:nvPr/>
        </p:nvSpPr>
        <p:spPr>
          <a:xfrm>
            <a:off x="618271" y="2058986"/>
            <a:ext cx="375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1: General Solution</a:t>
            </a:r>
          </a:p>
        </p:txBody>
      </p:sp>
      <p:cxnSp>
        <p:nvCxnSpPr>
          <p:cNvPr id="10" name="직선 연결선 55">
            <a:extLst>
              <a:ext uri="{FF2B5EF4-FFF2-40B4-BE49-F238E27FC236}">
                <a16:creationId xmlns:a16="http://schemas.microsoft.com/office/drawing/2014/main" id="{D7C567C4-3AE8-F306-644C-6F5F279468FC}"/>
              </a:ext>
            </a:extLst>
          </p:cNvPr>
          <p:cNvCxnSpPr>
            <a:cxnSpLocks/>
          </p:cNvCxnSpPr>
          <p:nvPr/>
        </p:nvCxnSpPr>
        <p:spPr>
          <a:xfrm>
            <a:off x="699810" y="2067347"/>
            <a:ext cx="15959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0BE037-E491-9596-102B-6643E653995A}"/>
                  </a:ext>
                </a:extLst>
              </p:cNvPr>
              <p:cNvSpPr txBox="1"/>
              <p:nvPr/>
            </p:nvSpPr>
            <p:spPr>
              <a:xfrm>
                <a:off x="618271" y="2453893"/>
                <a:ext cx="4942123" cy="3724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Solving the separable equation</a:t>
                </a:r>
                <a:endParaRPr lang="ar-IQ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ar-IQ" sz="28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Separate the variables</a:t>
                </a:r>
                <a:endParaRPr lang="ar-IQ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Integrate both sides: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ar-IQ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0BE037-E491-9596-102B-6643E6539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1" y="2453893"/>
                <a:ext cx="4942123" cy="3724738"/>
              </a:xfrm>
              <a:prstGeom prst="rect">
                <a:avLst/>
              </a:prstGeom>
              <a:blipFill>
                <a:blip r:embed="rId3"/>
                <a:stretch>
                  <a:fillRect l="-1233" t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CA9F1F-151C-90C4-81E9-EE6F85D17387}"/>
                  </a:ext>
                </a:extLst>
              </p:cNvPr>
              <p:cNvSpPr txBox="1"/>
              <p:nvPr/>
            </p:nvSpPr>
            <p:spPr>
              <a:xfrm>
                <a:off x="6173244" y="2453893"/>
                <a:ext cx="5746386" cy="2353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Exponentiate both sides (base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000" dirty="0"/>
                  <a:t>):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 be the general constant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:</a:t>
                </a:r>
                <a:endParaRPr lang="ar-IQ" sz="2000" dirty="0"/>
              </a:p>
              <a:p>
                <a:pPr lvl="0" fontAlgn="base"/>
                <a:r>
                  <a:rPr lang="en-US" sz="2000" dirty="0"/>
                  <a:t>General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CA9F1F-151C-90C4-81E9-EE6F85D17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44" y="2453893"/>
                <a:ext cx="5746386" cy="2353208"/>
              </a:xfrm>
              <a:prstGeom prst="rect">
                <a:avLst/>
              </a:prstGeom>
              <a:blipFill>
                <a:blip r:embed="rId4"/>
                <a:stretch>
                  <a:fillRect l="-1168" t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51734B0C-68CC-F58C-4399-0BB93CB61088}"/>
              </a:ext>
            </a:extLst>
          </p:cNvPr>
          <p:cNvCxnSpPr>
            <a:cxnSpLocks/>
          </p:cNvCxnSpPr>
          <p:nvPr/>
        </p:nvCxnSpPr>
        <p:spPr>
          <a:xfrm flipH="1">
            <a:off x="6114873" y="2173572"/>
            <a:ext cx="3" cy="40050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514CA77-D732-CB68-B7F8-C9101521B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09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A2BD9-D2EF-EBD9-D375-3BA309E3F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7A87B9-8D2D-42F9-3AC2-F21995EF7A88}"/>
              </a:ext>
            </a:extLst>
          </p:cNvPr>
          <p:cNvSpPr txBox="1"/>
          <p:nvPr/>
        </p:nvSpPr>
        <p:spPr>
          <a:xfrm>
            <a:off x="569635" y="1003926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Motherboard BIOS Battery Analysis (CR2032)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368DA5-F104-E25D-D1C3-F43EF528008F}"/>
              </a:ext>
            </a:extLst>
          </p:cNvPr>
          <p:cNvSpPr txBox="1"/>
          <p:nvPr/>
        </p:nvSpPr>
        <p:spPr>
          <a:xfrm>
            <a:off x="569635" y="419151"/>
            <a:ext cx="6842842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First Problem: Growth &amp; Decay</a:t>
            </a:r>
            <a:endParaRPr lang="ko-KR" altLang="en-US" sz="3600" dirty="0"/>
          </a:p>
        </p:txBody>
      </p:sp>
      <p:cxnSp>
        <p:nvCxnSpPr>
          <p:cNvPr id="7" name="직선 연결선 55">
            <a:extLst>
              <a:ext uri="{FF2B5EF4-FFF2-40B4-BE49-F238E27FC236}">
                <a16:creationId xmlns:a16="http://schemas.microsoft.com/office/drawing/2014/main" id="{8F97B2F2-3046-C659-AD6B-962BCFB7C936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64151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ACD368-C323-FEED-E48B-15BC2430BC73}"/>
              </a:ext>
            </a:extLst>
          </p:cNvPr>
          <p:cNvSpPr txBox="1"/>
          <p:nvPr/>
        </p:nvSpPr>
        <p:spPr>
          <a:xfrm>
            <a:off x="598814" y="1500049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122438"/>
                </a:solidFill>
                <a:latin typeface="+mj-lt"/>
              </a:rPr>
              <a:t>Solution:</a:t>
            </a:r>
            <a:endParaRPr lang="ko-KR" altLang="en-US" sz="32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DAADB-4711-319B-DB94-D4B11BBFDFCF}"/>
              </a:ext>
            </a:extLst>
          </p:cNvPr>
          <p:cNvSpPr txBox="1"/>
          <p:nvPr/>
        </p:nvSpPr>
        <p:spPr>
          <a:xfrm>
            <a:off x="618270" y="2058986"/>
            <a:ext cx="4566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2: Finding Constants</a:t>
            </a:r>
          </a:p>
        </p:txBody>
      </p:sp>
      <p:cxnSp>
        <p:nvCxnSpPr>
          <p:cNvPr id="10" name="직선 연결선 55">
            <a:extLst>
              <a:ext uri="{FF2B5EF4-FFF2-40B4-BE49-F238E27FC236}">
                <a16:creationId xmlns:a16="http://schemas.microsoft.com/office/drawing/2014/main" id="{6F6BDCD8-CFEE-2026-A1C8-BFC401B35D3D}"/>
              </a:ext>
            </a:extLst>
          </p:cNvPr>
          <p:cNvCxnSpPr>
            <a:cxnSpLocks/>
          </p:cNvCxnSpPr>
          <p:nvPr/>
        </p:nvCxnSpPr>
        <p:spPr>
          <a:xfrm>
            <a:off x="699810" y="2067347"/>
            <a:ext cx="15959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CCC0C1-07D8-69C4-233C-C7782FCAE696}"/>
                  </a:ext>
                </a:extLst>
              </p:cNvPr>
              <p:cNvSpPr txBox="1"/>
              <p:nvPr/>
            </p:nvSpPr>
            <p:spPr>
              <a:xfrm>
                <a:off x="618271" y="2453893"/>
                <a:ext cx="4942123" cy="261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Finding the Initial Constant (A)</a:t>
                </a:r>
                <a:endParaRPr lang="ar-IQ" sz="2000" b="1" dirty="0"/>
              </a:p>
              <a:p>
                <a:r>
                  <a:rPr lang="en-US" sz="2000" dirty="0"/>
                  <a:t>Using the information that voltage is </a:t>
                </a:r>
                <a14:m>
                  <m:oMath xmlns:m="http://schemas.openxmlformats.org/officeDocument/2006/math">
                    <m:r>
                      <a:rPr lang="en-US" sz="2000" i="1" u="sng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u="sng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ar-IQ" sz="2400" b="1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The equation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.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CCC0C1-07D8-69C4-233C-C7782FCAE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1" y="2453893"/>
                <a:ext cx="4942123" cy="2616870"/>
              </a:xfrm>
              <a:prstGeom prst="rect">
                <a:avLst/>
              </a:prstGeom>
              <a:blipFill>
                <a:blip r:embed="rId3"/>
                <a:stretch>
                  <a:fillRect l="-1233" t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BAE6E8-7F84-2B51-00D2-FFDBAE14785B}"/>
                  </a:ext>
                </a:extLst>
              </p:cNvPr>
              <p:cNvSpPr txBox="1"/>
              <p:nvPr/>
            </p:nvSpPr>
            <p:spPr>
              <a:xfrm>
                <a:off x="6173244" y="2453893"/>
                <a:ext cx="5772322" cy="3839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Finding the Decay Constant (k)</a:t>
                </a:r>
                <a:endParaRPr lang="tr-TR" sz="2000" dirty="0"/>
              </a:p>
              <a:p>
                <a:r>
                  <a:rPr lang="en-US" sz="2000" dirty="0"/>
                  <a:t>Using the information that voltage is 2.5V </a:t>
                </a:r>
                <a:endParaRPr lang="tr-TR" sz="2000" dirty="0"/>
              </a:p>
              <a:p>
                <a:r>
                  <a:rPr lang="en-US" sz="2000" dirty="0"/>
                  <a:t>after t=5 years: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000" dirty="0"/>
                  <a:t>Take the natural logarithm (ln) of both sides to isolate k: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𝟎𝟑𝟔𝟒𝟔</m:t>
                      </m:r>
                    </m:oMath>
                  </m:oMathPara>
                </a14:m>
                <a:endParaRPr lang="en-US" sz="2400" b="1" dirty="0"/>
              </a:p>
              <a:p>
                <a:r>
                  <a:rPr lang="en-US" sz="2000" dirty="0"/>
                  <a:t>The equation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.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03646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BAE6E8-7F84-2B51-00D2-FFDBAE147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44" y="2453893"/>
                <a:ext cx="5772322" cy="3839513"/>
              </a:xfrm>
              <a:prstGeom prst="rect">
                <a:avLst/>
              </a:prstGeom>
              <a:blipFill>
                <a:blip r:embed="rId4"/>
                <a:stretch>
                  <a:fillRect l="-1162" t="-954" r="-1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35CD2B45-CE85-A68F-8F86-F8BD8AE88F5E}"/>
              </a:ext>
            </a:extLst>
          </p:cNvPr>
          <p:cNvCxnSpPr>
            <a:cxnSpLocks/>
          </p:cNvCxnSpPr>
          <p:nvPr/>
        </p:nvCxnSpPr>
        <p:spPr>
          <a:xfrm>
            <a:off x="6096000" y="2520651"/>
            <a:ext cx="18873" cy="36579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82DFD-B727-88B0-F280-A68AA4934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B35AF-BA87-006D-6C6D-A19BC4B1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485905-3BEC-B761-3CFA-0106A5E03FEB}"/>
              </a:ext>
            </a:extLst>
          </p:cNvPr>
          <p:cNvSpPr txBox="1"/>
          <p:nvPr/>
        </p:nvSpPr>
        <p:spPr>
          <a:xfrm>
            <a:off x="2901550" y="1757583"/>
            <a:ext cx="6641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3: Critical Threshold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B8AA48-75DD-316C-BE43-675CAEB2257E}"/>
                  </a:ext>
                </a:extLst>
              </p:cNvPr>
              <p:cNvSpPr txBox="1"/>
              <p:nvPr/>
            </p:nvSpPr>
            <p:spPr>
              <a:xfrm>
                <a:off x="2901548" y="2321470"/>
                <a:ext cx="6641286" cy="1934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Finding time (t) when voltage drops to 2.0V: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03646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Take the ln of both sides: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03646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1217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B8AA48-75DD-316C-BE43-675CAEB22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48" y="2321470"/>
                <a:ext cx="6641286" cy="1934569"/>
              </a:xfrm>
              <a:prstGeom prst="rect">
                <a:avLst/>
              </a:prstGeom>
              <a:blipFill>
                <a:blip r:embed="rId3"/>
                <a:stretch>
                  <a:fillRect l="-1010"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3FEF7E3-795D-AD22-7CA5-723BD75109EB}"/>
              </a:ext>
            </a:extLst>
          </p:cNvPr>
          <p:cNvSpPr txBox="1"/>
          <p:nvPr/>
        </p:nvSpPr>
        <p:spPr>
          <a:xfrm>
            <a:off x="3095017" y="4683871"/>
            <a:ext cx="60019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The total service life is approximately </a:t>
            </a:r>
            <a:r>
              <a:rPr lang="en-US" sz="2500" b="1" u="sng" dirty="0"/>
              <a:t>11.12 Years</a:t>
            </a:r>
            <a:endParaRPr lang="en-US" sz="2500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661DC-B413-D278-8FB1-5651B5F72557}"/>
              </a:ext>
            </a:extLst>
          </p:cNvPr>
          <p:cNvSpPr txBox="1"/>
          <p:nvPr/>
        </p:nvSpPr>
        <p:spPr>
          <a:xfrm>
            <a:off x="297253" y="974750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+mj-lt"/>
              </a:rPr>
              <a:t>The Result:</a:t>
            </a:r>
          </a:p>
        </p:txBody>
      </p:sp>
      <p:cxnSp>
        <p:nvCxnSpPr>
          <p:cNvPr id="12" name="직선 연결선 55">
            <a:extLst>
              <a:ext uri="{FF2B5EF4-FFF2-40B4-BE49-F238E27FC236}">
                <a16:creationId xmlns:a16="http://schemas.microsoft.com/office/drawing/2014/main" id="{03B18D8A-265D-3CFA-D745-1E83C43D364B}"/>
              </a:ext>
            </a:extLst>
          </p:cNvPr>
          <p:cNvCxnSpPr>
            <a:cxnSpLocks/>
          </p:cNvCxnSpPr>
          <p:nvPr/>
        </p:nvCxnSpPr>
        <p:spPr>
          <a:xfrm>
            <a:off x="398249" y="1542048"/>
            <a:ext cx="215039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619036-698C-9897-6BF8-7BFE3C3710C7}"/>
              </a:ext>
            </a:extLst>
          </p:cNvPr>
          <p:cNvSpPr txBox="1"/>
          <p:nvPr/>
        </p:nvSpPr>
        <p:spPr>
          <a:xfrm>
            <a:off x="2548639" y="622785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Motherboard BIOS Battery Analysis (CR2032)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8B2581-C156-5F53-2891-90AEA00F752F}"/>
              </a:ext>
            </a:extLst>
          </p:cNvPr>
          <p:cNvSpPr txBox="1"/>
          <p:nvPr/>
        </p:nvSpPr>
        <p:spPr>
          <a:xfrm>
            <a:off x="2548639" y="38010"/>
            <a:ext cx="7105488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pPr algn="ctr"/>
            <a:r>
              <a:rPr lang="en-US" sz="3600" dirty="0">
                <a:solidFill>
                  <a:schemeClr val="bg1"/>
                </a:solidFill>
              </a:rPr>
              <a:t>First Problem: Growth &amp; Decay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cxnSp>
        <p:nvCxnSpPr>
          <p:cNvPr id="16" name="직선 연결선 55">
            <a:extLst>
              <a:ext uri="{FF2B5EF4-FFF2-40B4-BE49-F238E27FC236}">
                <a16:creationId xmlns:a16="http://schemas.microsoft.com/office/drawing/2014/main" id="{C721E93E-977D-6194-AF80-CDF8100F2A4B}"/>
              </a:ext>
            </a:extLst>
          </p:cNvPr>
          <p:cNvCxnSpPr>
            <a:cxnSpLocks/>
          </p:cNvCxnSpPr>
          <p:nvPr/>
        </p:nvCxnSpPr>
        <p:spPr>
          <a:xfrm>
            <a:off x="2873380" y="622785"/>
            <a:ext cx="64151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FAA66C-D2A3-E2E8-0469-357B0F406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6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40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7D97-DC0E-46DF-7C57-E5DD9294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8219AB-C98D-1192-5028-124F75CF8A11}"/>
              </a:ext>
            </a:extLst>
          </p:cNvPr>
          <p:cNvSpPr txBox="1"/>
          <p:nvPr/>
        </p:nvSpPr>
        <p:spPr>
          <a:xfrm>
            <a:off x="569635" y="1003926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Code Red Worm Spread (Logistic Growth)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D65B1A-7CA5-4116-E05E-FE3F753E183C}"/>
              </a:ext>
            </a:extLst>
          </p:cNvPr>
          <p:cNvSpPr txBox="1"/>
          <p:nvPr/>
        </p:nvSpPr>
        <p:spPr>
          <a:xfrm>
            <a:off x="569634" y="419151"/>
            <a:ext cx="7630783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tr-TR" sz="3600" dirty="0"/>
              <a:t>Second</a:t>
            </a:r>
            <a:r>
              <a:rPr lang="en-US" sz="3600" dirty="0"/>
              <a:t> Problem: Population Models</a:t>
            </a:r>
            <a:endParaRPr lang="ko-KR" altLang="en-US" sz="3600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DDCF879-DC9A-F472-9FFA-0C271B6AFBE9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73644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69C0DA-EA6D-F16A-12F2-715CD71D9D4D}"/>
              </a:ext>
            </a:extLst>
          </p:cNvPr>
          <p:cNvSpPr txBox="1"/>
          <p:nvPr/>
        </p:nvSpPr>
        <p:spPr>
          <a:xfrm>
            <a:off x="569634" y="1692204"/>
            <a:ext cx="4624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122438"/>
                </a:solidFill>
                <a:latin typeface="+mj-lt"/>
              </a:rPr>
              <a:t>The Scenario</a:t>
            </a:r>
            <a:endParaRPr lang="ko-KR" altLang="en-US" sz="28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3EA80-63C1-D099-84E6-51BC8AD41789}"/>
              </a:ext>
            </a:extLst>
          </p:cNvPr>
          <p:cNvSpPr txBox="1"/>
          <p:nvPr/>
        </p:nvSpPr>
        <p:spPr>
          <a:xfrm>
            <a:off x="569635" y="2356553"/>
            <a:ext cx="462493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sz="2000" b="1" dirty="0"/>
              <a:t>Event: </a:t>
            </a:r>
            <a:r>
              <a:rPr lang="en-US" sz="2000" dirty="0"/>
              <a:t>In 2001, Code Red worm attacked Microsoft IIS servers.</a:t>
            </a:r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</a:rPr>
              <a:t>Constraint: </a:t>
            </a:r>
            <a:r>
              <a:rPr lang="en-US" altLang="ko-KR" sz="2000" dirty="0">
                <a:solidFill>
                  <a:srgbClr val="122438"/>
                </a:solidFill>
              </a:rPr>
              <a:t>The number of weak servers is finite (Limited Capacity).</a:t>
            </a:r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</a:rPr>
              <a:t>Goal: </a:t>
            </a:r>
            <a:r>
              <a:rPr lang="en-US" altLang="ko-KR" sz="2000" dirty="0">
                <a:solidFill>
                  <a:srgbClr val="122438"/>
                </a:solidFill>
              </a:rPr>
              <a:t>Calculate time to infect 99% of the internet infrastructure.</a:t>
            </a:r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</a:rPr>
              <a:t>Why 99%: </a:t>
            </a:r>
            <a:r>
              <a:rPr lang="en-US" sz="2000" dirty="0"/>
              <a:t>Mathematically, the </a:t>
            </a:r>
            <a:br>
              <a:rPr lang="en-US" sz="2000" dirty="0"/>
            </a:br>
            <a:r>
              <a:rPr lang="en-US" sz="2000" dirty="0"/>
              <a:t>Logistic Growth model never </a:t>
            </a:r>
            <a:br>
              <a:rPr lang="en-US" sz="2000" dirty="0"/>
            </a:br>
            <a:r>
              <a:rPr lang="en-US" sz="2000" dirty="0"/>
              <a:t>reaches 100% in finite time.</a:t>
            </a:r>
            <a:endParaRPr lang="en-US" altLang="ko-KR" sz="2000" b="1" dirty="0">
              <a:solidFill>
                <a:srgbClr val="12243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DFBD7-EC37-B688-7111-FEB3F4D96FF7}"/>
              </a:ext>
            </a:extLst>
          </p:cNvPr>
          <p:cNvSpPr txBox="1"/>
          <p:nvPr/>
        </p:nvSpPr>
        <p:spPr>
          <a:xfrm>
            <a:off x="6096000" y="1692204"/>
            <a:ext cx="4624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122438"/>
                </a:solidFill>
                <a:latin typeface="+mj-lt"/>
              </a:rPr>
              <a:t>Mathematical Model</a:t>
            </a:r>
            <a:endParaRPr lang="ko-KR" altLang="en-US" sz="2800" dirty="0">
              <a:solidFill>
                <a:srgbClr val="122438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CFB023-9016-A2D6-23B0-A4CD7599D7AF}"/>
                  </a:ext>
                </a:extLst>
              </p:cNvPr>
              <p:cNvSpPr txBox="1"/>
              <p:nvPr/>
            </p:nvSpPr>
            <p:spPr>
              <a:xfrm>
                <a:off x="6096001" y="2356553"/>
                <a:ext cx="4624935" cy="4276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285750" indent="-285750">
                  <a:buFont typeface="Overpass Light" panose="00000400000000000000" pitchFamily="2" charset="0"/>
                  <a:buChar char="−"/>
                  <a:defRPr sz="1400">
                    <a:solidFill>
                      <a:srgbClr val="1E292E"/>
                    </a:solidFill>
                  </a:defRPr>
                </a:lvl1pPr>
              </a:lstStyle>
              <a:p>
                <a:pPr marL="0" indent="0">
                  <a:buNone/>
                </a:pPr>
                <a:r>
                  <a:rPr lang="en-US" sz="2000" b="1" dirty="0"/>
                  <a:t>Equation:</a:t>
                </a:r>
                <a:r>
                  <a:rPr lang="en-US" sz="2000" dirty="0"/>
                  <a:t> Logistic Growth Model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𝑟𝑃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tr-TR" sz="3600" dirty="0"/>
              </a:p>
              <a:p>
                <a:pPr marL="0" indent="0">
                  <a:buNone/>
                </a:pPr>
                <a:r>
                  <a:rPr lang="en-US" sz="2000" b="1" dirty="0"/>
                  <a:t>Given Data:</a:t>
                </a:r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Number of infected servers</a:t>
                </a:r>
              </a:p>
              <a:p>
                <a:r>
                  <a:rPr lang="en-US" sz="2000" b="1" dirty="0"/>
                  <a:t>Capacity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000" b="1" dirty="0"/>
                  <a:t>):</a:t>
                </a:r>
                <a:r>
                  <a:rPr lang="en-US" sz="2000" dirty="0"/>
                  <a:t> 360,000 Servers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Infection rate ||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Time (Hours)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Initial: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Observation: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CFB023-9016-A2D6-23B0-A4CD7599D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356553"/>
                <a:ext cx="4624935" cy="4276940"/>
              </a:xfrm>
              <a:prstGeom prst="rect">
                <a:avLst/>
              </a:prstGeom>
              <a:blipFill>
                <a:blip r:embed="rId3"/>
                <a:stretch>
                  <a:fillRect l="-1449" t="-856" r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839BD4A-1F47-C88B-4D53-8FABA2308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2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6292-830A-90C2-3CAD-6DF2ADEC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9055D-47C3-08DC-CF90-B875FB3F15C3}"/>
              </a:ext>
            </a:extLst>
          </p:cNvPr>
          <p:cNvSpPr txBox="1"/>
          <p:nvPr/>
        </p:nvSpPr>
        <p:spPr>
          <a:xfrm>
            <a:off x="569635" y="1003926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Code Red Worm Spread (Logistic Growth)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5ECE8-71BF-C527-F8FF-ACCE9E17784E}"/>
              </a:ext>
            </a:extLst>
          </p:cNvPr>
          <p:cNvSpPr txBox="1"/>
          <p:nvPr/>
        </p:nvSpPr>
        <p:spPr>
          <a:xfrm>
            <a:off x="569635" y="419151"/>
            <a:ext cx="7689148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Second Problem: Population Models</a:t>
            </a:r>
          </a:p>
        </p:txBody>
      </p:sp>
      <p:cxnSp>
        <p:nvCxnSpPr>
          <p:cNvPr id="7" name="직선 연결선 55">
            <a:extLst>
              <a:ext uri="{FF2B5EF4-FFF2-40B4-BE49-F238E27FC236}">
                <a16:creationId xmlns:a16="http://schemas.microsoft.com/office/drawing/2014/main" id="{F135C28C-5AC7-8E38-0996-BB1D5165A97F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73546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06493B-0049-2B0A-ACB9-0EF9564390C5}"/>
              </a:ext>
            </a:extLst>
          </p:cNvPr>
          <p:cNvSpPr txBox="1"/>
          <p:nvPr/>
        </p:nvSpPr>
        <p:spPr>
          <a:xfrm>
            <a:off x="598814" y="1500049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122438"/>
                </a:solidFill>
                <a:latin typeface="+mj-lt"/>
              </a:rPr>
              <a:t>Solution:</a:t>
            </a:r>
            <a:endParaRPr lang="ko-KR" altLang="en-US" sz="32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44F4C-B0FA-804B-082E-12B5B7FE3C3B}"/>
              </a:ext>
            </a:extLst>
          </p:cNvPr>
          <p:cNvSpPr txBox="1"/>
          <p:nvPr/>
        </p:nvSpPr>
        <p:spPr>
          <a:xfrm>
            <a:off x="618271" y="2058986"/>
            <a:ext cx="5082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1: Separation of Variables</a:t>
            </a:r>
          </a:p>
        </p:txBody>
      </p:sp>
      <p:cxnSp>
        <p:nvCxnSpPr>
          <p:cNvPr id="10" name="직선 연결선 55">
            <a:extLst>
              <a:ext uri="{FF2B5EF4-FFF2-40B4-BE49-F238E27FC236}">
                <a16:creationId xmlns:a16="http://schemas.microsoft.com/office/drawing/2014/main" id="{CCDE7670-A4B4-31A4-7C79-0001ADEC130D}"/>
              </a:ext>
            </a:extLst>
          </p:cNvPr>
          <p:cNvCxnSpPr>
            <a:cxnSpLocks/>
          </p:cNvCxnSpPr>
          <p:nvPr/>
        </p:nvCxnSpPr>
        <p:spPr>
          <a:xfrm>
            <a:off x="699810" y="2067347"/>
            <a:ext cx="15959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8A853C-68F4-890E-A753-19D660B42A24}"/>
                  </a:ext>
                </a:extLst>
              </p:cNvPr>
              <p:cNvSpPr txBox="1"/>
              <p:nvPr/>
            </p:nvSpPr>
            <p:spPr>
              <a:xfrm>
                <a:off x="618271" y="2453893"/>
                <a:ext cx="4942123" cy="244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Solving the separable equation</a:t>
                </a:r>
                <a:endParaRPr lang="ar-IQ" sz="2000" dirty="0"/>
              </a:p>
              <a:p>
                <a:pPr algn="ctr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𝑟𝑃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tr-TR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Separate the variables</a:t>
                </a:r>
                <a:endParaRPr lang="ar-IQ" sz="2000" dirty="0"/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8A853C-68F4-890E-A753-19D660B42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1" y="2453893"/>
                <a:ext cx="4942123" cy="2445093"/>
              </a:xfrm>
              <a:prstGeom prst="rect">
                <a:avLst/>
              </a:prstGeom>
              <a:blipFill>
                <a:blip r:embed="rId3"/>
                <a:stretch>
                  <a:fillRect l="-1233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3B05B5-79AF-D4F7-39F2-6E54434D7709}"/>
                  </a:ext>
                </a:extLst>
              </p:cNvPr>
              <p:cNvSpPr txBox="1"/>
              <p:nvPr/>
            </p:nvSpPr>
            <p:spPr>
              <a:xfrm>
                <a:off x="6173244" y="2453893"/>
                <a:ext cx="5746386" cy="4021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𝐵𝑃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A and B: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The equation becomes: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3B05B5-79AF-D4F7-39F2-6E54434D7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44" y="2453893"/>
                <a:ext cx="5746386" cy="4021742"/>
              </a:xfrm>
              <a:prstGeom prst="rect">
                <a:avLst/>
              </a:prstGeom>
              <a:blipFill>
                <a:blip r:embed="rId4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60634FE8-C648-C8A0-2C07-290205067454}"/>
              </a:ext>
            </a:extLst>
          </p:cNvPr>
          <p:cNvCxnSpPr>
            <a:cxnSpLocks/>
          </p:cNvCxnSpPr>
          <p:nvPr/>
        </p:nvCxnSpPr>
        <p:spPr>
          <a:xfrm>
            <a:off x="6114876" y="2173572"/>
            <a:ext cx="0" cy="43020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62DC90-FF5B-FBE3-2765-A5B0E0CA606D}"/>
              </a:ext>
            </a:extLst>
          </p:cNvPr>
          <p:cNvSpPr txBox="1"/>
          <p:nvPr/>
        </p:nvSpPr>
        <p:spPr>
          <a:xfrm>
            <a:off x="6173244" y="2058985"/>
            <a:ext cx="629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2: Partial Fraction </a:t>
            </a:r>
            <a:r>
              <a:rPr lang="en-US" sz="2300" b="1" dirty="0"/>
              <a:t>Decomposition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3732E1-3280-450A-C95E-C2987DEC9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292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37BC-B2E4-0CE4-BE5B-AEDE5243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907A63-BE94-EED9-27AE-5D20AAD5AB51}"/>
              </a:ext>
            </a:extLst>
          </p:cNvPr>
          <p:cNvSpPr txBox="1"/>
          <p:nvPr/>
        </p:nvSpPr>
        <p:spPr>
          <a:xfrm>
            <a:off x="569635" y="1003926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Code Red Worm Spread (Logistic Growth)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9F13D-003B-DEC5-EE60-083084868357}"/>
              </a:ext>
            </a:extLst>
          </p:cNvPr>
          <p:cNvSpPr txBox="1"/>
          <p:nvPr/>
        </p:nvSpPr>
        <p:spPr>
          <a:xfrm>
            <a:off x="569634" y="419151"/>
            <a:ext cx="7883701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Second Problem: Population Models</a:t>
            </a:r>
          </a:p>
        </p:txBody>
      </p:sp>
      <p:cxnSp>
        <p:nvCxnSpPr>
          <p:cNvPr id="7" name="직선 연결선 55">
            <a:extLst>
              <a:ext uri="{FF2B5EF4-FFF2-40B4-BE49-F238E27FC236}">
                <a16:creationId xmlns:a16="http://schemas.microsoft.com/office/drawing/2014/main" id="{4101B340-2B7E-6E02-03FD-13313C6DECE1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73546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D2C149-24D9-B660-CBE4-0AB2ECF7A4E0}"/>
              </a:ext>
            </a:extLst>
          </p:cNvPr>
          <p:cNvSpPr txBox="1"/>
          <p:nvPr/>
        </p:nvSpPr>
        <p:spPr>
          <a:xfrm>
            <a:off x="598814" y="1500049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122438"/>
                </a:solidFill>
                <a:latin typeface="+mj-lt"/>
              </a:rPr>
              <a:t>Solution:</a:t>
            </a:r>
            <a:endParaRPr lang="ko-KR" altLang="en-US" sz="32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C7741-AA26-264C-3CA7-0BC788245958}"/>
              </a:ext>
            </a:extLst>
          </p:cNvPr>
          <p:cNvSpPr txBox="1"/>
          <p:nvPr/>
        </p:nvSpPr>
        <p:spPr>
          <a:xfrm>
            <a:off x="618270" y="2058986"/>
            <a:ext cx="4566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3: Integration</a:t>
            </a:r>
          </a:p>
        </p:txBody>
      </p:sp>
      <p:cxnSp>
        <p:nvCxnSpPr>
          <p:cNvPr id="10" name="직선 연결선 55">
            <a:extLst>
              <a:ext uri="{FF2B5EF4-FFF2-40B4-BE49-F238E27FC236}">
                <a16:creationId xmlns:a16="http://schemas.microsoft.com/office/drawing/2014/main" id="{33283593-7684-AB0A-6809-446FD15D0173}"/>
              </a:ext>
            </a:extLst>
          </p:cNvPr>
          <p:cNvCxnSpPr>
            <a:cxnSpLocks/>
          </p:cNvCxnSpPr>
          <p:nvPr/>
        </p:nvCxnSpPr>
        <p:spPr>
          <a:xfrm>
            <a:off x="699810" y="2067347"/>
            <a:ext cx="15959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014BCB-38BE-E583-A7D7-2213C06AC697}"/>
                  </a:ext>
                </a:extLst>
              </p:cNvPr>
              <p:cNvSpPr txBox="1"/>
              <p:nvPr/>
            </p:nvSpPr>
            <p:spPr>
              <a:xfrm>
                <a:off x="618271" y="2453893"/>
                <a:ext cx="5400486" cy="3617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36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Canceling 1/K from both sides: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𝑑𝑃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1400" i="1" dirty="0"/>
                  <a:t>(Note: By using chain rule for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1400" i="1" dirty="0"/>
                  <a:t> we can find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1400" i="1" dirty="0"/>
                  <a:t> 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014BCB-38BE-E583-A7D7-2213C06AC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1" y="2453893"/>
                <a:ext cx="5400486" cy="3617401"/>
              </a:xfrm>
              <a:prstGeom prst="rect">
                <a:avLst/>
              </a:prstGeom>
              <a:blipFill>
                <a:blip r:embed="rId3"/>
                <a:stretch>
                  <a:fillRect l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75D392-4665-9240-BE61-84D57D51C724}"/>
                  </a:ext>
                </a:extLst>
              </p:cNvPr>
              <p:cNvSpPr txBox="1"/>
              <p:nvPr/>
            </p:nvSpPr>
            <p:spPr>
              <a:xfrm>
                <a:off x="6173244" y="2453893"/>
                <a:ext cx="5772322" cy="3587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Simplifying for P: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Dividing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𝑟𝑡</m:t>
                        </m:r>
                      </m:sup>
                    </m:sSup>
                  </m:oMath>
                </a14:m>
                <a:r>
                  <a:rPr lang="en-US" sz="2000" dirty="0"/>
                  <a:t>:</a:t>
                </a: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𝑟𝑡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Finding Constans (A) &amp; (r):</a:t>
                </a:r>
                <a:br>
                  <a:rPr lang="en-US" sz="2000" b="1" dirty="0"/>
                </a:br>
                <a:r>
                  <a:rPr lang="en-US" sz="2000" dirty="0"/>
                  <a:t>By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𝟑𝟓𝟗𝟗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1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By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𝟔𝟓𝟒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75D392-4665-9240-BE61-84D57D51C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44" y="2453893"/>
                <a:ext cx="5772322" cy="3587008"/>
              </a:xfrm>
              <a:prstGeom prst="rect">
                <a:avLst/>
              </a:prstGeom>
              <a:blipFill>
                <a:blip r:embed="rId4"/>
                <a:stretch>
                  <a:fillRect l="-1162" t="-1020" b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CB49C1A5-267A-6317-395D-F9942BB587AE}"/>
              </a:ext>
            </a:extLst>
          </p:cNvPr>
          <p:cNvCxnSpPr>
            <a:cxnSpLocks/>
          </p:cNvCxnSpPr>
          <p:nvPr/>
        </p:nvCxnSpPr>
        <p:spPr>
          <a:xfrm>
            <a:off x="6096000" y="2520651"/>
            <a:ext cx="18873" cy="36579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A9F5C8-EEB3-4E38-6A86-7CD1A87154D1}"/>
              </a:ext>
            </a:extLst>
          </p:cNvPr>
          <p:cNvSpPr txBox="1"/>
          <p:nvPr/>
        </p:nvSpPr>
        <p:spPr>
          <a:xfrm>
            <a:off x="6162932" y="2084824"/>
            <a:ext cx="4566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4: General Solution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CCFD5F-31A4-B1EE-45BD-223EB9975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1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06FB-8A43-D93D-752B-7F9873F8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FE0287-9C5D-AB6E-1012-1E420DCC6B36}"/>
              </a:ext>
            </a:extLst>
          </p:cNvPr>
          <p:cNvSpPr txBox="1"/>
          <p:nvPr/>
        </p:nvSpPr>
        <p:spPr>
          <a:xfrm>
            <a:off x="2901550" y="1786765"/>
            <a:ext cx="6641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5: Finding Time for 99% Infection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73C274-B6CA-5B92-6667-A0C15E76735B}"/>
                  </a:ext>
                </a:extLst>
              </p:cNvPr>
              <p:cNvSpPr txBox="1"/>
              <p:nvPr/>
            </p:nvSpPr>
            <p:spPr>
              <a:xfrm>
                <a:off x="2901548" y="2350652"/>
                <a:ext cx="6641286" cy="2300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Target: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356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356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400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360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3599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654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Simplifying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783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654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𝟓𝟓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73C274-B6CA-5B92-6667-A0C15E767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48" y="2350652"/>
                <a:ext cx="6641286" cy="2300373"/>
              </a:xfrm>
              <a:prstGeom prst="rect">
                <a:avLst/>
              </a:prstGeom>
              <a:blipFill>
                <a:blip r:embed="rId3"/>
                <a:stretch>
                  <a:fillRect l="-1010" t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F4B35E3-3276-3E97-C2DD-B0888769411A}"/>
              </a:ext>
            </a:extLst>
          </p:cNvPr>
          <p:cNvSpPr txBox="1"/>
          <p:nvPr/>
        </p:nvSpPr>
        <p:spPr>
          <a:xfrm>
            <a:off x="2954775" y="4656937"/>
            <a:ext cx="62824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Total time to infect 99% of the internet: </a:t>
            </a:r>
            <a:r>
              <a:rPr lang="en-US" sz="2500" b="1" u="sng" dirty="0"/>
              <a:t>Approximately 19 and a half hours.</a:t>
            </a:r>
            <a:endParaRPr lang="en-US" sz="2500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C12FB-047D-D69F-F2D0-D3AEFF395F3F}"/>
              </a:ext>
            </a:extLst>
          </p:cNvPr>
          <p:cNvSpPr txBox="1"/>
          <p:nvPr/>
        </p:nvSpPr>
        <p:spPr>
          <a:xfrm>
            <a:off x="297253" y="974750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+mj-lt"/>
              </a:rPr>
              <a:t>The Result:</a:t>
            </a:r>
          </a:p>
        </p:txBody>
      </p:sp>
      <p:cxnSp>
        <p:nvCxnSpPr>
          <p:cNvPr id="12" name="직선 연결선 55">
            <a:extLst>
              <a:ext uri="{FF2B5EF4-FFF2-40B4-BE49-F238E27FC236}">
                <a16:creationId xmlns:a16="http://schemas.microsoft.com/office/drawing/2014/main" id="{591ADE41-C216-FDAC-CEB5-C05B1CCC8A03}"/>
              </a:ext>
            </a:extLst>
          </p:cNvPr>
          <p:cNvCxnSpPr>
            <a:cxnSpLocks/>
          </p:cNvCxnSpPr>
          <p:nvPr/>
        </p:nvCxnSpPr>
        <p:spPr>
          <a:xfrm>
            <a:off x="398249" y="1542048"/>
            <a:ext cx="215039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4A892C-C307-DCB8-217C-5A357C8D4505}"/>
              </a:ext>
            </a:extLst>
          </p:cNvPr>
          <p:cNvSpPr txBox="1"/>
          <p:nvPr/>
        </p:nvSpPr>
        <p:spPr>
          <a:xfrm>
            <a:off x="2548639" y="622785"/>
            <a:ext cx="710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Code Red Worm Spread (Logistic Growth)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14FB0B-5E31-41C8-E2B3-4D6ECB4DF554}"/>
              </a:ext>
            </a:extLst>
          </p:cNvPr>
          <p:cNvSpPr txBox="1"/>
          <p:nvPr/>
        </p:nvSpPr>
        <p:spPr>
          <a:xfrm>
            <a:off x="2200068" y="44770"/>
            <a:ext cx="7791863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pPr algn="ctr"/>
            <a:r>
              <a:rPr lang="en-US" sz="3600" dirty="0">
                <a:solidFill>
                  <a:schemeClr val="bg1"/>
                </a:solidFill>
              </a:rPr>
              <a:t>Second Problem: Population Models</a:t>
            </a:r>
          </a:p>
        </p:txBody>
      </p:sp>
      <p:cxnSp>
        <p:nvCxnSpPr>
          <p:cNvPr id="16" name="직선 연결선 55">
            <a:extLst>
              <a:ext uri="{FF2B5EF4-FFF2-40B4-BE49-F238E27FC236}">
                <a16:creationId xmlns:a16="http://schemas.microsoft.com/office/drawing/2014/main" id="{2679816C-6720-788B-4094-D73826D61EEB}"/>
              </a:ext>
            </a:extLst>
          </p:cNvPr>
          <p:cNvCxnSpPr>
            <a:cxnSpLocks/>
          </p:cNvCxnSpPr>
          <p:nvPr/>
        </p:nvCxnSpPr>
        <p:spPr>
          <a:xfrm>
            <a:off x="2431915" y="622785"/>
            <a:ext cx="736383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8E0BA-EC69-BCC8-5E77-CE33589D9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10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624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DA00-114C-665E-72DA-16497EC2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CED37B-FE8C-1187-6E8B-61E4F88C76C9}"/>
              </a:ext>
            </a:extLst>
          </p:cNvPr>
          <p:cNvSpPr txBox="1"/>
          <p:nvPr/>
        </p:nvSpPr>
        <p:spPr>
          <a:xfrm>
            <a:off x="569635" y="1003926"/>
            <a:ext cx="893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MacBook Pro Thermal Throttling (Newton's Law of Cooling)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32FB3-0D42-80A9-4AF3-084BD912E2C0}"/>
              </a:ext>
            </a:extLst>
          </p:cNvPr>
          <p:cNvSpPr txBox="1"/>
          <p:nvPr/>
        </p:nvSpPr>
        <p:spPr>
          <a:xfrm>
            <a:off x="569634" y="419151"/>
            <a:ext cx="7630783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Third Problem: Cooling Problems</a:t>
            </a:r>
            <a:endParaRPr lang="ko-KR" altLang="en-US" sz="3600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FFC430A-6454-B8CE-F38D-99A679832082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73644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A906C76-4C77-E230-3FF9-4A60C4B51124}"/>
              </a:ext>
            </a:extLst>
          </p:cNvPr>
          <p:cNvSpPr txBox="1"/>
          <p:nvPr/>
        </p:nvSpPr>
        <p:spPr>
          <a:xfrm>
            <a:off x="569634" y="1692204"/>
            <a:ext cx="4624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122438"/>
                </a:solidFill>
                <a:latin typeface="+mj-lt"/>
              </a:rPr>
              <a:t>The Scenario</a:t>
            </a:r>
            <a:endParaRPr lang="ko-KR" altLang="en-US" sz="28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444E8-0DC1-C393-1F6F-6A2BE9877788}"/>
              </a:ext>
            </a:extLst>
          </p:cNvPr>
          <p:cNvSpPr txBox="1"/>
          <p:nvPr/>
        </p:nvSpPr>
        <p:spPr>
          <a:xfrm>
            <a:off x="569636" y="2356553"/>
            <a:ext cx="46249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r>
              <a:rPr lang="en-US" sz="2000" b="1" dirty="0">
                <a:latin typeface="Poppins Light (Body)"/>
              </a:rPr>
              <a:t>Context: </a:t>
            </a:r>
            <a:r>
              <a:rPr lang="en-US" sz="2000" dirty="0">
                <a:latin typeface="Poppins Light (Body)"/>
              </a:rPr>
              <a:t>Apple's 2018 MacBook </a:t>
            </a:r>
            <a:br>
              <a:rPr lang="en-US" sz="2000" dirty="0">
                <a:latin typeface="Poppins Light (Body)"/>
              </a:rPr>
            </a:br>
            <a:r>
              <a:rPr lang="en-US" sz="2000" dirty="0">
                <a:latin typeface="Poppins Light (Body)"/>
              </a:rPr>
              <a:t>Pro (i9) suffered from severe</a:t>
            </a:r>
            <a:r>
              <a:rPr lang="ar-IQ" sz="2000" dirty="0">
                <a:latin typeface="Poppins Light (Body)"/>
              </a:rPr>
              <a:t> </a:t>
            </a:r>
            <a:br>
              <a:rPr lang="en-US" sz="2000" dirty="0">
                <a:latin typeface="Poppins Light (Body)"/>
              </a:rPr>
            </a:br>
            <a:r>
              <a:rPr lang="en-US" sz="2000" dirty="0">
                <a:latin typeface="Poppins Light (Body)"/>
              </a:rPr>
              <a:t>overheating due to a faulty fan </a:t>
            </a:r>
            <a:br>
              <a:rPr lang="en-US" sz="2000" dirty="0">
                <a:latin typeface="Poppins Light (Body)"/>
              </a:rPr>
            </a:br>
            <a:r>
              <a:rPr lang="en-US" sz="2000" dirty="0">
                <a:latin typeface="Poppins Light (Body)"/>
              </a:rPr>
              <a:t>curve (Throttling Scandal).</a:t>
            </a:r>
            <a:endParaRPr lang="ar-IQ" sz="2000" dirty="0">
              <a:latin typeface="Poppins Light (Body)"/>
            </a:endParaRPr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  <a:latin typeface="Poppins Light (Body)"/>
              </a:rPr>
              <a:t>Issue: </a:t>
            </a:r>
            <a:r>
              <a:rPr lang="en-US" sz="2000" dirty="0"/>
              <a:t>The processor instantly </a:t>
            </a:r>
            <a:br>
              <a:rPr lang="en-US" sz="2000" dirty="0"/>
            </a:br>
            <a:r>
              <a:rPr lang="en-US" sz="2000" dirty="0"/>
              <a:t>hits </a:t>
            </a:r>
            <a:r>
              <a:rPr lang="en-US" sz="2000" b="1" dirty="0"/>
              <a:t>100°C</a:t>
            </a:r>
            <a:r>
              <a:rPr lang="en-US" sz="2000" dirty="0"/>
              <a:t> under load. When </a:t>
            </a:r>
            <a:br>
              <a:rPr lang="en-US" sz="2000" dirty="0"/>
            </a:br>
            <a:r>
              <a:rPr lang="en-US" sz="2000" dirty="0"/>
              <a:t>stopped, fans are too slow to </a:t>
            </a:r>
            <a:br>
              <a:rPr lang="en-US" sz="2000" dirty="0"/>
            </a:br>
            <a:r>
              <a:rPr lang="en-US" sz="2000" dirty="0"/>
              <a:t>cool it down quickly.</a:t>
            </a:r>
            <a:endParaRPr lang="ar-IQ" sz="2000" dirty="0"/>
          </a:p>
          <a:p>
            <a:pPr>
              <a:spcBef>
                <a:spcPts val="1200"/>
              </a:spcBef>
            </a:pPr>
            <a:r>
              <a:rPr lang="en-US" altLang="ko-KR" sz="2000" b="1" dirty="0">
                <a:solidFill>
                  <a:srgbClr val="122438"/>
                </a:solidFill>
                <a:latin typeface="Poppins Light (Body)"/>
              </a:rPr>
              <a:t>Goal: </a:t>
            </a:r>
            <a:r>
              <a:rPr lang="en-US" sz="2000" dirty="0"/>
              <a:t>Calculate the waiting time required for the CPU to cool </a:t>
            </a:r>
            <a:br>
              <a:rPr lang="en-US" sz="2000" dirty="0"/>
            </a:br>
            <a:r>
              <a:rPr lang="en-US" sz="2000" dirty="0"/>
              <a:t>down to a safe </a:t>
            </a:r>
            <a:r>
              <a:rPr lang="en-US" sz="2000" b="1" dirty="0"/>
              <a:t>50°C</a:t>
            </a:r>
            <a:r>
              <a:rPr lang="en-US" sz="2000" dirty="0"/>
              <a:t> to regain </a:t>
            </a:r>
            <a:br>
              <a:rPr lang="en-US" sz="2000" dirty="0"/>
            </a:br>
            <a:r>
              <a:rPr lang="en-US" sz="2000" dirty="0"/>
              <a:t>Turbo Boost performance.</a:t>
            </a:r>
            <a:endParaRPr lang="en-US" altLang="ko-KR" sz="2000" dirty="0">
              <a:solidFill>
                <a:srgbClr val="122438"/>
              </a:solidFill>
              <a:latin typeface="Poppins Light 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D72A7-97E1-229B-5228-433D43CCF616}"/>
              </a:ext>
            </a:extLst>
          </p:cNvPr>
          <p:cNvSpPr txBox="1"/>
          <p:nvPr/>
        </p:nvSpPr>
        <p:spPr>
          <a:xfrm>
            <a:off x="6096000" y="1692204"/>
            <a:ext cx="4624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122438"/>
                </a:solidFill>
                <a:latin typeface="+mj-lt"/>
              </a:rPr>
              <a:t>Mathematical Model</a:t>
            </a:r>
            <a:endParaRPr lang="ko-KR" altLang="en-US" sz="2800" dirty="0">
              <a:solidFill>
                <a:srgbClr val="122438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313206-06C0-17F8-1B90-AFB4B97F90DE}"/>
                  </a:ext>
                </a:extLst>
              </p:cNvPr>
              <p:cNvSpPr txBox="1"/>
              <p:nvPr/>
            </p:nvSpPr>
            <p:spPr>
              <a:xfrm>
                <a:off x="6096001" y="2356553"/>
                <a:ext cx="4624935" cy="4262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285750" indent="-285750">
                  <a:buFont typeface="Overpass Light" panose="00000400000000000000" pitchFamily="2" charset="0"/>
                  <a:buChar char="−"/>
                  <a:defRPr sz="1400">
                    <a:solidFill>
                      <a:srgbClr val="1E292E"/>
                    </a:solidFill>
                  </a:defRPr>
                </a:lvl1pPr>
              </a:lstStyle>
              <a:p>
                <a:pPr marL="0" indent="0">
                  <a:buNone/>
                </a:pPr>
                <a:r>
                  <a:rPr lang="en-US" sz="2000" b="1" dirty="0"/>
                  <a:t>Equation:</a:t>
                </a:r>
                <a:r>
                  <a:rPr lang="en-US" sz="2000" dirty="0"/>
                  <a:t> Newton’s Law of Cooling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tr-TR" sz="2400" i="1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5400" dirty="0"/>
              </a:p>
              <a:p>
                <a:pPr marL="0" indent="0">
                  <a:buNone/>
                </a:pPr>
                <a:r>
                  <a:rPr lang="en-US" sz="2000" b="1" dirty="0"/>
                  <a:t>Given Data:</a:t>
                </a:r>
                <a:endParaRPr lang="en-US" sz="2400" i="1" dirty="0"/>
              </a:p>
              <a:p>
                <a:r>
                  <a:rPr lang="en-US" sz="2000" b="1" dirty="0"/>
                  <a:t>Initial Temp: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After 1 Min: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Ambient Temp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tr-TR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000" b="1" dirty="0"/>
                  <a:t>):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tr-TR" sz="20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tr-TR" sz="2000" b="1" dirty="0"/>
                  <a:t>: </a:t>
                </a:r>
                <a:r>
                  <a:rPr lang="tr-TR" sz="2000" dirty="0"/>
                  <a:t>Cooling constant.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Time (Minutes)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313206-06C0-17F8-1B90-AFB4B97F9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356553"/>
                <a:ext cx="4624935" cy="4262705"/>
              </a:xfrm>
              <a:prstGeom prst="rect">
                <a:avLst/>
              </a:prstGeom>
              <a:blipFill>
                <a:blip r:embed="rId2"/>
                <a:stretch>
                  <a:fillRect l="-1449" t="-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BD27A-40C3-3CF0-FF19-F23C6B3C2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81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FE39-6B71-A86F-34BF-AE926FCC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FC2A51-D422-5A57-B6AB-092C0E7308B2}"/>
              </a:ext>
            </a:extLst>
          </p:cNvPr>
          <p:cNvSpPr txBox="1"/>
          <p:nvPr/>
        </p:nvSpPr>
        <p:spPr>
          <a:xfrm>
            <a:off x="569635" y="419151"/>
            <a:ext cx="7689148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Third Problem: Cooling Problems</a:t>
            </a:r>
          </a:p>
        </p:txBody>
      </p:sp>
      <p:cxnSp>
        <p:nvCxnSpPr>
          <p:cNvPr id="7" name="직선 연결선 55">
            <a:extLst>
              <a:ext uri="{FF2B5EF4-FFF2-40B4-BE49-F238E27FC236}">
                <a16:creationId xmlns:a16="http://schemas.microsoft.com/office/drawing/2014/main" id="{99F7479D-E389-34EB-5F1F-778E71929ABA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73546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FC81EA-A2E6-82BB-E109-B02E0E941E9E}"/>
              </a:ext>
            </a:extLst>
          </p:cNvPr>
          <p:cNvSpPr txBox="1"/>
          <p:nvPr/>
        </p:nvSpPr>
        <p:spPr>
          <a:xfrm>
            <a:off x="598814" y="1500049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122438"/>
                </a:solidFill>
                <a:latin typeface="+mj-lt"/>
              </a:rPr>
              <a:t>Solution:</a:t>
            </a:r>
            <a:endParaRPr lang="ko-KR" altLang="en-US" sz="32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307E3-BF4F-E006-9890-777D85815028}"/>
              </a:ext>
            </a:extLst>
          </p:cNvPr>
          <p:cNvSpPr txBox="1"/>
          <p:nvPr/>
        </p:nvSpPr>
        <p:spPr>
          <a:xfrm>
            <a:off x="618271" y="2058986"/>
            <a:ext cx="5082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1: Separation of Variables</a:t>
            </a:r>
          </a:p>
        </p:txBody>
      </p:sp>
      <p:cxnSp>
        <p:nvCxnSpPr>
          <p:cNvPr id="10" name="직선 연결선 55">
            <a:extLst>
              <a:ext uri="{FF2B5EF4-FFF2-40B4-BE49-F238E27FC236}">
                <a16:creationId xmlns:a16="http://schemas.microsoft.com/office/drawing/2014/main" id="{F23F4961-B24D-8A97-37B0-AB5A39493159}"/>
              </a:ext>
            </a:extLst>
          </p:cNvPr>
          <p:cNvCxnSpPr>
            <a:cxnSpLocks/>
          </p:cNvCxnSpPr>
          <p:nvPr/>
        </p:nvCxnSpPr>
        <p:spPr>
          <a:xfrm>
            <a:off x="699810" y="2067347"/>
            <a:ext cx="15959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8D4FED-71D5-E892-CE00-8DA9C756AB90}"/>
                  </a:ext>
                </a:extLst>
              </p:cNvPr>
              <p:cNvSpPr txBox="1"/>
              <p:nvPr/>
            </p:nvSpPr>
            <p:spPr>
              <a:xfrm>
                <a:off x="618271" y="2453893"/>
                <a:ext cx="4942123" cy="2323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Solving the separable equation</a:t>
                </a:r>
                <a:endParaRPr lang="ar-IQ" sz="2000" dirty="0"/>
              </a:p>
              <a:p>
                <a:pPr algn="ctr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Separate the variables</a:t>
                </a:r>
                <a:endParaRPr lang="ar-IQ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tr-TR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8D4FED-71D5-E892-CE00-8DA9C756A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1" y="2453893"/>
                <a:ext cx="4942123" cy="2323136"/>
              </a:xfrm>
              <a:prstGeom prst="rect">
                <a:avLst/>
              </a:prstGeom>
              <a:blipFill>
                <a:blip r:embed="rId2"/>
                <a:stretch>
                  <a:fillRect l="-1233" t="-1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8A2A0B-1AC4-2851-9536-287FDBBF81BA}"/>
                  </a:ext>
                </a:extLst>
              </p:cNvPr>
              <p:cNvSpPr txBox="1"/>
              <p:nvPr/>
            </p:nvSpPr>
            <p:spPr>
              <a:xfrm>
                <a:off x="6173244" y="2453893"/>
                <a:ext cx="5746386" cy="3557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den>
                          </m:f>
                        </m:e>
                      </m:nary>
                      <m:r>
                        <a:rPr lang="tr-T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d>
                        </m:e>
                      </m:func>
                      <m:r>
                        <a:rPr lang="tr-TR" sz="2400" i="1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𝑘𝑡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Simplifying for </a:t>
                </a:r>
                <a14:m>
                  <m:oMath xmlns:m="http://schemas.openxmlformats.org/officeDocument/2006/math">
                    <m:r>
                      <a:rPr lang="tr-TR" sz="20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0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tr-TR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𝑘𝑡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tr-T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000" i="1" u="sng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tr-TR" sz="2000" i="1" u="sng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tr-TR" sz="2000" dirty="0"/>
                  <a:t> </a:t>
                </a:r>
                <a:r>
                  <a:rPr lang="en-US" sz="2000" dirty="0"/>
                  <a:t>will </a:t>
                </a:r>
                <a:r>
                  <a:rPr lang="tr-TR" sz="2000" dirty="0"/>
                  <a:t>be the general constant 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tr-TR" sz="2000" dirty="0"/>
                  <a:t>: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General 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tr-TR" sz="2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8A2A0B-1AC4-2851-9536-287FDBBF8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44" y="2453893"/>
                <a:ext cx="5746386" cy="3557128"/>
              </a:xfrm>
              <a:prstGeom prst="rect">
                <a:avLst/>
              </a:prstGeom>
              <a:blipFill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7AD46573-A637-A1CF-4CC2-C24E3E936C59}"/>
              </a:ext>
            </a:extLst>
          </p:cNvPr>
          <p:cNvCxnSpPr>
            <a:cxnSpLocks/>
          </p:cNvCxnSpPr>
          <p:nvPr/>
        </p:nvCxnSpPr>
        <p:spPr>
          <a:xfrm>
            <a:off x="6114876" y="2173572"/>
            <a:ext cx="0" cy="43020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3A584E4-BF1B-D49E-F2F7-EADD0B2CCB4C}"/>
              </a:ext>
            </a:extLst>
          </p:cNvPr>
          <p:cNvSpPr txBox="1"/>
          <p:nvPr/>
        </p:nvSpPr>
        <p:spPr>
          <a:xfrm>
            <a:off x="6173244" y="2058985"/>
            <a:ext cx="629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2: Integration both sides:</a:t>
            </a:r>
            <a:endParaRPr lang="en-US" sz="23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77C35-6EF9-866C-6B78-12AB33F278EE}"/>
              </a:ext>
            </a:extLst>
          </p:cNvPr>
          <p:cNvSpPr txBox="1"/>
          <p:nvPr/>
        </p:nvSpPr>
        <p:spPr>
          <a:xfrm>
            <a:off x="569635" y="1003926"/>
            <a:ext cx="893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MacBook Pro Thermal Throttling (Newton's Law of Cooling)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2428F-FE45-A2DC-F649-CDA36E67A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605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E132-CB4B-26DF-EB99-DB0DCC3F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1AED82-CD3C-9604-8AEE-A4F65D434BFE}"/>
              </a:ext>
            </a:extLst>
          </p:cNvPr>
          <p:cNvSpPr txBox="1"/>
          <p:nvPr/>
        </p:nvSpPr>
        <p:spPr>
          <a:xfrm>
            <a:off x="569634" y="419151"/>
            <a:ext cx="7883701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r>
              <a:rPr lang="en-US" sz="3600" dirty="0"/>
              <a:t>Third Problem: Cooling Problems</a:t>
            </a:r>
          </a:p>
        </p:txBody>
      </p:sp>
      <p:cxnSp>
        <p:nvCxnSpPr>
          <p:cNvPr id="7" name="직선 연결선 55">
            <a:extLst>
              <a:ext uri="{FF2B5EF4-FFF2-40B4-BE49-F238E27FC236}">
                <a16:creationId xmlns:a16="http://schemas.microsoft.com/office/drawing/2014/main" id="{5189AFBE-F277-7229-0BEB-AC6A8DECDE7E}"/>
              </a:ext>
            </a:extLst>
          </p:cNvPr>
          <p:cNvCxnSpPr>
            <a:cxnSpLocks/>
          </p:cNvCxnSpPr>
          <p:nvPr/>
        </p:nvCxnSpPr>
        <p:spPr>
          <a:xfrm>
            <a:off x="651178" y="1003926"/>
            <a:ext cx="73546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A65B9E1-3FD3-6DDB-592A-50F276563D40}"/>
              </a:ext>
            </a:extLst>
          </p:cNvPr>
          <p:cNvSpPr txBox="1"/>
          <p:nvPr/>
        </p:nvSpPr>
        <p:spPr>
          <a:xfrm>
            <a:off x="598814" y="1500049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122438"/>
                </a:solidFill>
                <a:latin typeface="+mj-lt"/>
              </a:rPr>
              <a:t>Solution:</a:t>
            </a:r>
            <a:endParaRPr lang="ko-KR" altLang="en-US" sz="3200" dirty="0">
              <a:solidFill>
                <a:srgbClr val="122438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8ECE8-5948-CE99-5032-6FA841048653}"/>
              </a:ext>
            </a:extLst>
          </p:cNvPr>
          <p:cNvSpPr txBox="1"/>
          <p:nvPr/>
        </p:nvSpPr>
        <p:spPr>
          <a:xfrm>
            <a:off x="618270" y="2058986"/>
            <a:ext cx="4566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3: Finding Constants</a:t>
            </a:r>
          </a:p>
        </p:txBody>
      </p:sp>
      <p:cxnSp>
        <p:nvCxnSpPr>
          <p:cNvPr id="10" name="직선 연결선 55">
            <a:extLst>
              <a:ext uri="{FF2B5EF4-FFF2-40B4-BE49-F238E27FC236}">
                <a16:creationId xmlns:a16="http://schemas.microsoft.com/office/drawing/2014/main" id="{749D301D-9C69-89BE-9E5B-D567B392C014}"/>
              </a:ext>
            </a:extLst>
          </p:cNvPr>
          <p:cNvCxnSpPr>
            <a:cxnSpLocks/>
          </p:cNvCxnSpPr>
          <p:nvPr/>
        </p:nvCxnSpPr>
        <p:spPr>
          <a:xfrm>
            <a:off x="699810" y="2067347"/>
            <a:ext cx="15959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EBDBB4-0390-9FAF-34CE-DADEDE7BAEE3}"/>
                  </a:ext>
                </a:extLst>
              </p:cNvPr>
              <p:cNvSpPr txBox="1"/>
              <p:nvPr/>
            </p:nvSpPr>
            <p:spPr>
              <a:xfrm>
                <a:off x="618271" y="2453893"/>
                <a:ext cx="5400486" cy="2407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Finding Constant A:</a:t>
                </a:r>
              </a:p>
              <a:p>
                <a:r>
                  <a:rPr lang="en-US" sz="2000" dirty="0"/>
                  <a:t>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32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EBDBB4-0390-9FAF-34CE-DADEDE7BA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1" y="2453893"/>
                <a:ext cx="5400486" cy="2407390"/>
              </a:xfrm>
              <a:prstGeom prst="rect">
                <a:avLst/>
              </a:prstGeom>
              <a:blipFill>
                <a:blip r:embed="rId2"/>
                <a:stretch>
                  <a:fillRect l="-1129" t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250C74-3FD5-97CE-D52A-272032B7F41D}"/>
                  </a:ext>
                </a:extLst>
              </p:cNvPr>
              <p:cNvSpPr txBox="1"/>
              <p:nvPr/>
            </p:nvSpPr>
            <p:spPr>
              <a:xfrm>
                <a:off x="6173244" y="2453893"/>
                <a:ext cx="5772322" cy="3303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Finding Constant k:</a:t>
                </a:r>
              </a:p>
              <a:p>
                <a:r>
                  <a:rPr lang="en-US" sz="2000" dirty="0"/>
                  <a:t>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tr-T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tr-TR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000"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lang="tr-TR" sz="2000" dirty="0"/>
                  <a:t>) of both sides to isolate 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tr-TR" sz="2000" dirty="0"/>
                  <a:t>: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tr-TR" sz="2400" b="0" i="1">
                          <a:latin typeface="Cambria Math" panose="02040503050406030204" pitchFamily="18" charset="0"/>
                        </a:rPr>
                        <m:t> = −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tr-TR" sz="2400" b="0" i="1">
                              <a:latin typeface="Cambria Math" panose="020405030504060302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tr-TR" sz="2400" b="0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tr-TR" sz="2400" b="0" i="1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800" i="1" dirty="0">
                  <a:latin typeface="Poppins Light (Body)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𝟏𝟒𝟑𝟏𝟎𝟏</m:t>
                      </m:r>
                    </m:oMath>
                  </m:oMathPara>
                </a14:m>
                <a:endParaRPr lang="en-US" sz="2400" b="1" i="1" dirty="0">
                  <a:latin typeface="Poppins Light (Body)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250C74-3FD5-97CE-D52A-272032B7F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44" y="2453893"/>
                <a:ext cx="5772322" cy="3303020"/>
              </a:xfrm>
              <a:prstGeom prst="rect">
                <a:avLst/>
              </a:prstGeom>
              <a:blipFill>
                <a:blip r:embed="rId3"/>
                <a:stretch>
                  <a:fillRect l="-1162" t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55">
            <a:extLst>
              <a:ext uri="{FF2B5EF4-FFF2-40B4-BE49-F238E27FC236}">
                <a16:creationId xmlns:a16="http://schemas.microsoft.com/office/drawing/2014/main" id="{8A15DC78-5088-9276-6A56-1ADD306E7D88}"/>
              </a:ext>
            </a:extLst>
          </p:cNvPr>
          <p:cNvCxnSpPr>
            <a:cxnSpLocks/>
          </p:cNvCxnSpPr>
          <p:nvPr/>
        </p:nvCxnSpPr>
        <p:spPr>
          <a:xfrm>
            <a:off x="6096000" y="2520651"/>
            <a:ext cx="18873" cy="36579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244456-EC43-9BF9-DA71-9294F1BC88D3}"/>
              </a:ext>
            </a:extLst>
          </p:cNvPr>
          <p:cNvSpPr txBox="1"/>
          <p:nvPr/>
        </p:nvSpPr>
        <p:spPr>
          <a:xfrm>
            <a:off x="569635" y="1003926"/>
            <a:ext cx="893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MacBook Pro Thermal Throttling (Newton's Law of Cooling)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4F0A8-44F2-5B50-9509-B8E95A48D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82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6925-A38E-D1ED-FEDD-8DE01C62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B6A4A7-D609-D5E7-3B44-A2CA07F23C0A}"/>
                  </a:ext>
                </a:extLst>
              </p:cNvPr>
              <p:cNvSpPr txBox="1"/>
              <p:nvPr/>
            </p:nvSpPr>
            <p:spPr>
              <a:xfrm>
                <a:off x="2901550" y="1747856"/>
                <a:ext cx="66412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Step 4: Required time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400" b="1" dirty="0"/>
                  <a:t> to reach 50°C.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B6A4A7-D609-D5E7-3B44-A2CA07F23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50" y="1747856"/>
                <a:ext cx="6641284" cy="461665"/>
              </a:xfrm>
              <a:prstGeom prst="rect">
                <a:avLst/>
              </a:prstGeom>
              <a:blipFill>
                <a:blip r:embed="rId2"/>
                <a:stretch>
                  <a:fillRect l="-1469" t="-1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5FA77A-53FA-5C18-E0B8-84FC71610BDA}"/>
                  </a:ext>
                </a:extLst>
              </p:cNvPr>
              <p:cNvSpPr txBox="1"/>
              <p:nvPr/>
            </p:nvSpPr>
            <p:spPr>
              <a:xfrm>
                <a:off x="2901548" y="2311743"/>
                <a:ext cx="6641286" cy="2312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Target: 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tr-TR" sz="20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tr-TR" sz="2000" i="1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Simplifying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i="1">
                          <a:latin typeface="Cambria Math" panose="02040503050406030204" pitchFamily="18" charset="0"/>
                        </a:rPr>
                        <m:t> 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0986</m:t>
                          </m:r>
                        </m:num>
                        <m:den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1431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𝟔𝟕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400" b="1"/>
                        <m:t>minutes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5FA77A-53FA-5C18-E0B8-84FC71610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48" y="2311743"/>
                <a:ext cx="6641286" cy="2312043"/>
              </a:xfrm>
              <a:prstGeom prst="rect">
                <a:avLst/>
              </a:prstGeom>
              <a:blipFill>
                <a:blip r:embed="rId3"/>
                <a:stretch>
                  <a:fillRect l="-1010"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3AF1D1F-29B0-FA8E-DEE7-660DE593A4AA}"/>
              </a:ext>
            </a:extLst>
          </p:cNvPr>
          <p:cNvSpPr txBox="1"/>
          <p:nvPr/>
        </p:nvSpPr>
        <p:spPr>
          <a:xfrm>
            <a:off x="2945453" y="4726008"/>
            <a:ext cx="6336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user needs to wait approximately </a:t>
            </a:r>
            <a:br>
              <a:rPr lang="ar-IQ" sz="2400" b="1" dirty="0"/>
            </a:br>
            <a:r>
              <a:rPr lang="tr-TR" sz="2400" b="1" u="sng" dirty="0"/>
              <a:t>7 minutes and 40 seconds</a:t>
            </a:r>
            <a:r>
              <a:rPr lang="ar-IQ" sz="2400" b="1" u="sng" dirty="0"/>
              <a:t> </a:t>
            </a:r>
            <a:r>
              <a:rPr lang="en-US" sz="2400" b="1" dirty="0"/>
              <a:t>to cool down</a:t>
            </a:r>
            <a:endParaRPr lang="en-US" sz="2400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ABBF4-7161-75EE-828A-BB41597B456B}"/>
              </a:ext>
            </a:extLst>
          </p:cNvPr>
          <p:cNvSpPr txBox="1"/>
          <p:nvPr/>
        </p:nvSpPr>
        <p:spPr>
          <a:xfrm>
            <a:off x="297253" y="974750"/>
            <a:ext cx="2251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+mj-lt"/>
              </a:rPr>
              <a:t>The Result:</a:t>
            </a:r>
          </a:p>
        </p:txBody>
      </p:sp>
      <p:cxnSp>
        <p:nvCxnSpPr>
          <p:cNvPr id="12" name="직선 연결선 55">
            <a:extLst>
              <a:ext uri="{FF2B5EF4-FFF2-40B4-BE49-F238E27FC236}">
                <a16:creationId xmlns:a16="http://schemas.microsoft.com/office/drawing/2014/main" id="{FD7050DC-F8B1-9ED3-4572-3B4F0CE56124}"/>
              </a:ext>
            </a:extLst>
          </p:cNvPr>
          <p:cNvCxnSpPr>
            <a:cxnSpLocks/>
          </p:cNvCxnSpPr>
          <p:nvPr/>
        </p:nvCxnSpPr>
        <p:spPr>
          <a:xfrm>
            <a:off x="398249" y="1542048"/>
            <a:ext cx="215039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42FCF77-0E02-9E2C-8E01-271A1018EDE0}"/>
              </a:ext>
            </a:extLst>
          </p:cNvPr>
          <p:cNvSpPr txBox="1"/>
          <p:nvPr/>
        </p:nvSpPr>
        <p:spPr>
          <a:xfrm>
            <a:off x="1639106" y="622785"/>
            <a:ext cx="894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MacBook Pro Thermal Throttling (Newton's Law of Cooling)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ABEE5F-B498-8545-4D91-761B0D8598D5}"/>
              </a:ext>
            </a:extLst>
          </p:cNvPr>
          <p:cNvSpPr txBox="1"/>
          <p:nvPr/>
        </p:nvSpPr>
        <p:spPr>
          <a:xfrm>
            <a:off x="2200068" y="44770"/>
            <a:ext cx="7791863" cy="646331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0">
                <a:latin typeface="Scope One" panose="02060403030504020204" pitchFamily="18" charset="0"/>
                <a:cs typeface="Scope One" panose="02060403030504020204" pitchFamily="18" charset="0"/>
              </a:defRPr>
            </a:lvl1pPr>
          </a:lstStyle>
          <a:p>
            <a:pPr algn="ctr"/>
            <a:r>
              <a:rPr lang="en-US" sz="3600" dirty="0">
                <a:solidFill>
                  <a:schemeClr val="bg1"/>
                </a:solidFill>
              </a:rPr>
              <a:t>Third Problem: Cooling Problems</a:t>
            </a:r>
          </a:p>
        </p:txBody>
      </p:sp>
      <p:cxnSp>
        <p:nvCxnSpPr>
          <p:cNvPr id="16" name="직선 연결선 55">
            <a:extLst>
              <a:ext uri="{FF2B5EF4-FFF2-40B4-BE49-F238E27FC236}">
                <a16:creationId xmlns:a16="http://schemas.microsoft.com/office/drawing/2014/main" id="{99922DDE-8E11-D565-4180-ACFC4B70CF02}"/>
              </a:ext>
            </a:extLst>
          </p:cNvPr>
          <p:cNvCxnSpPr>
            <a:cxnSpLocks/>
          </p:cNvCxnSpPr>
          <p:nvPr/>
        </p:nvCxnSpPr>
        <p:spPr>
          <a:xfrm>
            <a:off x="2431915" y="622785"/>
            <a:ext cx="736383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7D25E8-1578-B42A-19A3-9A8DDC228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14</a:t>
            </a:fld>
            <a:endParaRPr lang="en-US" dirty="0">
              <a:solidFill>
                <a:srgbClr val="E8E8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873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1B674-8B87-5D78-3097-4465B054121D}"/>
              </a:ext>
            </a:extLst>
          </p:cNvPr>
          <p:cNvSpPr txBox="1"/>
          <p:nvPr/>
        </p:nvSpPr>
        <p:spPr>
          <a:xfrm>
            <a:off x="527724" y="598410"/>
            <a:ext cx="29547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>
                <a:solidFill>
                  <a:srgbClr val="122438"/>
                </a:solidFill>
                <a:latin typeface="+mj-lt"/>
              </a:rPr>
              <a:t>References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E7586-D011-25F9-30A7-91464D2376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E62A0-2786-3F93-2EF4-A5B4EB53D0F5}"/>
              </a:ext>
            </a:extLst>
          </p:cNvPr>
          <p:cNvSpPr txBox="1"/>
          <p:nvPr/>
        </p:nvSpPr>
        <p:spPr>
          <a:xfrm>
            <a:off x="570473" y="1194536"/>
            <a:ext cx="1094017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 I: BIOS Battery (Datasheet)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Panasonic Corporation (2021):</a:t>
            </a:r>
            <a:r>
              <a:rPr lang="en-US" sz="2000" dirty="0"/>
              <a:t> </a:t>
            </a:r>
            <a:r>
              <a:rPr lang="en-US" sz="2000" i="1" dirty="0"/>
              <a:t>Coin Type Lithium Manganese Dioxide Battery (CR2032) Data Sheet.</a:t>
            </a:r>
            <a:r>
              <a:rPr lang="en-US" sz="2000" dirty="0"/>
              <a:t> Industrial Solutions Company. </a:t>
            </a:r>
            <a:endParaRPr lang="ar-IQ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Link:</a:t>
            </a:r>
            <a:r>
              <a:rPr lang="en-US" sz="2000" dirty="0"/>
              <a:t> </a:t>
            </a:r>
            <a:r>
              <a:rPr lang="en-US" sz="2000" u="sng" dirty="0">
                <a:hlinkClick r:id="rId2"/>
              </a:rPr>
              <a:t>Panasonic CR2032 Datasheet (PDF)</a:t>
            </a:r>
            <a:endParaRPr lang="ar-IQ" sz="2000" dirty="0"/>
          </a:p>
          <a:p>
            <a:pPr>
              <a:spcBef>
                <a:spcPts val="2400"/>
              </a:spcBef>
            </a:pPr>
            <a:r>
              <a:rPr lang="en-US" sz="2000" b="1" dirty="0"/>
              <a:t>Problem II: Code Red Worm (Research)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CAIDA Analysis (2002):</a:t>
            </a:r>
            <a:r>
              <a:rPr lang="en-US" sz="2000" dirty="0"/>
              <a:t> Moore, D., et al. "Code-Red: A case study on the spread and victims of an Internet worm." The Center for Applied Internet Data Analysis. </a:t>
            </a:r>
            <a:endParaRPr lang="ar-IQ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Link:</a:t>
            </a:r>
            <a:r>
              <a:rPr lang="en-US" sz="2000" dirty="0"/>
              <a:t> </a:t>
            </a:r>
            <a:r>
              <a:rPr lang="en-US" sz="2000" u="sng" dirty="0">
                <a:hlinkClick r:id="rId3"/>
              </a:rPr>
              <a:t>CAIDA Analysis of Code-Red</a:t>
            </a:r>
            <a:endParaRPr lang="ar-IQ" sz="2000" dirty="0"/>
          </a:p>
          <a:p>
            <a:pPr>
              <a:spcBef>
                <a:spcPts val="2400"/>
              </a:spcBef>
            </a:pPr>
            <a:r>
              <a:rPr lang="en-US" sz="2000" b="1" dirty="0"/>
              <a:t>Problem III: Thermal Throttling (Tech Review)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Dave2D (2018):</a:t>
            </a:r>
            <a:r>
              <a:rPr lang="en-US" sz="2000" dirty="0"/>
              <a:t> </a:t>
            </a:r>
            <a:r>
              <a:rPr lang="en-US" sz="2000" i="1" dirty="0"/>
              <a:t>Technical Review: "MacBook Pro 15 (2018) - Beware the Core i9".</a:t>
            </a:r>
            <a:r>
              <a:rPr lang="en-US" sz="2000" dirty="0"/>
              <a:t> </a:t>
            </a:r>
            <a:endParaRPr lang="ar-IQ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Link:</a:t>
            </a:r>
            <a:r>
              <a:rPr lang="en-US" sz="2000" dirty="0"/>
              <a:t> </a:t>
            </a:r>
            <a:r>
              <a:rPr lang="en-US" sz="2000" u="sng" dirty="0">
                <a:hlinkClick r:id="rId4"/>
              </a:rPr>
              <a:t>Dave2D Original Review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The Verge (2018):</a:t>
            </a:r>
            <a:r>
              <a:rPr lang="en-US" sz="2000" dirty="0"/>
              <a:t> </a:t>
            </a:r>
            <a:r>
              <a:rPr lang="en-US" sz="2000" i="1" dirty="0"/>
              <a:t>Warren, T. "Apple apologizes for MacBook Pro throttling bug and releases fix."</a:t>
            </a:r>
            <a:r>
              <a:rPr lang="en-US" sz="2000" dirty="0"/>
              <a:t> </a:t>
            </a:r>
            <a:endParaRPr lang="ar-IQ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Link:</a:t>
            </a:r>
            <a:r>
              <a:rPr lang="en-US" sz="2000" dirty="0"/>
              <a:t> </a:t>
            </a:r>
            <a:r>
              <a:rPr lang="en-US" sz="2000" dirty="0">
                <a:hlinkClick r:id="rId5"/>
              </a:rPr>
              <a:t>Apple apologizes for throttling Intel CPUs inside MacBook Pros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0685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BA8B1-D7D9-4BA7-81BD-EA7584A7937C}"/>
              </a:ext>
            </a:extLst>
          </p:cNvPr>
          <p:cNvSpPr txBox="1"/>
          <p:nvPr/>
        </p:nvSpPr>
        <p:spPr>
          <a:xfrm>
            <a:off x="3715657" y="2306804"/>
            <a:ext cx="476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8000" b="0" dirty="0">
                <a:solidFill>
                  <a:srgbClr val="122438"/>
                </a:solidFill>
              </a:rPr>
              <a:t>Thanks 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9B1C91-90C1-CDB6-88A3-8EEFBFA6A76C}"/>
              </a:ext>
            </a:extLst>
          </p:cNvPr>
          <p:cNvGrpSpPr/>
          <p:nvPr/>
        </p:nvGrpSpPr>
        <p:grpSpPr>
          <a:xfrm>
            <a:off x="215897" y="94303"/>
            <a:ext cx="2079831" cy="888187"/>
            <a:chOff x="215897" y="94303"/>
            <a:chExt cx="2530001" cy="10758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A8AA9A-3E22-2B7B-EB97-50355E7CF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11" r="6233"/>
            <a:stretch>
              <a:fillRect/>
            </a:stretch>
          </p:blipFill>
          <p:spPr>
            <a:xfrm>
              <a:off x="1170017" y="94303"/>
              <a:ext cx="1575881" cy="1075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568392-F4BB-DBEE-8480-6818126E8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650"/>
            <a:stretch>
              <a:fillRect/>
            </a:stretch>
          </p:blipFill>
          <p:spPr>
            <a:xfrm>
              <a:off x="215897" y="94303"/>
              <a:ext cx="983304" cy="107589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1537901-07A9-DE35-A311-FB36007AD5F4}"/>
              </a:ext>
            </a:extLst>
          </p:cNvPr>
          <p:cNvSpPr txBox="1"/>
          <p:nvPr/>
        </p:nvSpPr>
        <p:spPr>
          <a:xfrm>
            <a:off x="3959828" y="6220013"/>
            <a:ext cx="4115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cs typeface="Arial" panose="020B0604020202020204" pitchFamily="34" charset="0"/>
              </a:rPr>
              <a:t>Instructor: Assist. Prof. Dr. Semra ZEREN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32933-261B-857E-FD24-A3AD2E24D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B1913-58CB-40F0-814A-926B1B0C3747}" type="slidenum">
              <a:rPr lang="en-US" smtClean="0"/>
              <a:pPr/>
              <a:t>16</a:t>
            </a:fld>
            <a:endParaRPr lang="en-US" dirty="0">
              <a:solidFill>
                <a:srgbClr val="E8E8E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9F8CB-7EA1-EE37-04E3-4308122F1D14}"/>
              </a:ext>
            </a:extLst>
          </p:cNvPr>
          <p:cNvSpPr txBox="1"/>
          <p:nvPr/>
        </p:nvSpPr>
        <p:spPr>
          <a:xfrm>
            <a:off x="-137888" y="6396273"/>
            <a:ext cx="227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25/12/2025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394EC7-2BDF-4ED2-1ED9-F4522A028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379470"/>
              </p:ext>
            </p:extLst>
          </p:nvPr>
        </p:nvGraphicFramePr>
        <p:xfrm>
          <a:off x="3959828" y="3709956"/>
          <a:ext cx="4272656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0729">
                  <a:extLst>
                    <a:ext uri="{9D8B030D-6E8A-4147-A177-3AD203B41FA5}">
                      <a16:colId xmlns:a16="http://schemas.microsoft.com/office/drawing/2014/main" val="9682083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91989366"/>
                    </a:ext>
                  </a:extLst>
                </a:gridCol>
                <a:gridCol w="1893647">
                  <a:extLst>
                    <a:ext uri="{9D8B030D-6E8A-4147-A177-3AD203B41FA5}">
                      <a16:colId xmlns:a16="http://schemas.microsoft.com/office/drawing/2014/main" val="3519748647"/>
                    </a:ext>
                  </a:extLst>
                </a:gridCol>
              </a:tblGrid>
              <a:tr h="27943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Presented by: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202553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Malik ALHASAN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123456789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8506906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pPr algn="l"/>
                      <a:r>
                        <a:rPr lang="ar-IQ" sz="1400" kern="1200" dirty="0">
                          <a:solidFill>
                            <a:srgbClr val="12243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---------------------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438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123456789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0184936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pPr algn="l"/>
                      <a:r>
                        <a:rPr lang="ar-IQ" sz="1400" kern="1200" dirty="0">
                          <a:solidFill>
                            <a:srgbClr val="12243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----------------------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438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123456789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513999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pPr algn="l"/>
                      <a:r>
                        <a:rPr lang="ar-IQ" sz="1400" kern="1200" dirty="0">
                          <a:solidFill>
                            <a:srgbClr val="12243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------------------------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438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123456789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1250238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pPr algn="l"/>
                      <a:r>
                        <a:rPr lang="ar-IQ" altLang="ko-KR" sz="1400">
                          <a:solidFill>
                            <a:srgbClr val="122438"/>
                          </a:solidFill>
                          <a:cs typeface="Arial" panose="020B0604020202020204" pitchFamily="34" charset="0"/>
                        </a:rPr>
                        <a:t>----------------------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22438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438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123456789</a:t>
                      </a:r>
                      <a:endParaRPr lang="en-US" sz="1400" dirty="0">
                        <a:solidFill>
                          <a:srgbClr val="122438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76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M Serif Text - Poppins Light">
      <a:majorFont>
        <a:latin typeface="DM Serif Text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flat">
          <a:solidFill>
            <a:schemeClr val="tx1"/>
          </a:solidFill>
          <a:prstDash val="solid"/>
          <a:miter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latin typeface="+mj-lt"/>
          </a:defRPr>
        </a:defPPr>
      </a:lst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</TotalTime>
  <Words>1501</Words>
  <Application>Microsoft Office PowerPoint</Application>
  <PresentationFormat>Widescreen</PresentationFormat>
  <Paragraphs>255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Poppins Light</vt:lpstr>
      <vt:lpstr>Cambria Math</vt:lpstr>
      <vt:lpstr>Scope One</vt:lpstr>
      <vt:lpstr>Calibri</vt:lpstr>
      <vt:lpstr>Malgun Gothic</vt:lpstr>
      <vt:lpstr>Arial</vt:lpstr>
      <vt:lpstr>Poppins Light (Body)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Malik Fikrat Mohammed Saeed Alhasan</cp:lastModifiedBy>
  <cp:revision>200</cp:revision>
  <cp:lastPrinted>2025-12-22T17:39:43Z</cp:lastPrinted>
  <dcterms:created xsi:type="dcterms:W3CDTF">2019-04-06T05:20:47Z</dcterms:created>
  <dcterms:modified xsi:type="dcterms:W3CDTF">2026-05-06T15:49:15Z</dcterms:modified>
</cp:coreProperties>
</file>